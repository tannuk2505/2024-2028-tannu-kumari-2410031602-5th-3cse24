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3D"/>
        </a:solidFill>
      </p:bgPr>
    </p:bg>
    <p:spTree>
      <p:nvGrpSpPr>
        <p:cNvPr id="1" name=""/>
        <p:cNvGrpSpPr/>
        <p:nvPr/>
      </p:nvGrpSpPr>
      <p:grpSpPr>
        <a:xfrm>
          <a:off x="0" y="0"/>
          <a:ext cx="0" cy="0"/>
          <a:chOff x="0" y="0"/>
          <a:chExt cx="0" cy="0"/>
        </a:xfrm>
      </p:grpSpPr>
      <p:sp>
        <p:nvSpPr>
          <p:cNvPr id="2" name="Shape 0"/>
          <p:cNvSpPr/>
          <p:nvPr/>
        </p:nvSpPr>
        <p:spPr>
          <a:xfrm>
            <a:off x="9784080" y="-2103120"/>
            <a:ext cx="5943600" cy="5943600"/>
          </a:xfrm>
          <a:prstGeom prst="ellipse">
            <a:avLst/>
          </a:prstGeom>
          <a:solidFill>
            <a:srgbClr val="028090">
              <a:alpha val="45000"/>
            </a:srgbClr>
          </a:solidFill>
          <a:ln/>
        </p:spPr>
      </p:sp>
      <p:sp>
        <p:nvSpPr>
          <p:cNvPr id="3" name="Shape 1"/>
          <p:cNvSpPr/>
          <p:nvPr/>
        </p:nvSpPr>
        <p:spPr>
          <a:xfrm>
            <a:off x="11521440" y="2377440"/>
            <a:ext cx="3840480" cy="3840480"/>
          </a:xfrm>
          <a:prstGeom prst="ellipse">
            <a:avLst/>
          </a:prstGeom>
          <a:solidFill>
            <a:srgbClr val="00A896">
              <a:alpha val="40000"/>
            </a:srgbClr>
          </a:solidFill>
          <a:ln/>
        </p:spPr>
      </p:sp>
      <p:sp>
        <p:nvSpPr>
          <p:cNvPr id="4" name="Shape 2"/>
          <p:cNvSpPr/>
          <p:nvPr/>
        </p:nvSpPr>
        <p:spPr>
          <a:xfrm>
            <a:off x="-1463040" y="5120640"/>
            <a:ext cx="4206240" cy="4206240"/>
          </a:xfrm>
          <a:prstGeom prst="ellipse">
            <a:avLst/>
          </a:prstGeom>
          <a:solidFill>
            <a:srgbClr val="028090">
              <a:alpha val="45000"/>
            </a:srgbClr>
          </a:solidFill>
          <a:ln/>
        </p:spPr>
      </p:sp>
      <p:pic>
        <p:nvPicPr>
          <p:cNvPr id="5" name="Image 0" descr="/home/claude/work/iilm_logo-000.jpg">    </p:cNvPr>
          <p:cNvPicPr>
            <a:picLocks noChangeAspect="1"/>
          </p:cNvPicPr>
          <p:nvPr/>
        </p:nvPicPr>
        <p:blipFill>
          <a:blip r:embed="rId1"/>
          <a:stretch>
            <a:fillRect/>
          </a:stretch>
        </p:blipFill>
        <p:spPr>
          <a:xfrm>
            <a:off x="502920" y="502920"/>
            <a:ext cx="457200" cy="420624"/>
          </a:xfrm>
          <a:prstGeom prst="rect">
            <a:avLst/>
          </a:prstGeom>
        </p:spPr>
      </p:pic>
      <p:sp>
        <p:nvSpPr>
          <p:cNvPr id="6" name="Text 3"/>
          <p:cNvSpPr/>
          <p:nvPr/>
        </p:nvSpPr>
        <p:spPr>
          <a:xfrm>
            <a:off x="1051560" y="475488"/>
            <a:ext cx="548640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IILM UNIVERSITY, GREATER NOIDA</a:t>
            </a:r>
            <a:endParaRPr lang="en-US" sz="1400" dirty="0"/>
          </a:p>
        </p:txBody>
      </p:sp>
      <p:sp>
        <p:nvSpPr>
          <p:cNvPr id="7" name="Text 4"/>
          <p:cNvSpPr/>
          <p:nvPr/>
        </p:nvSpPr>
        <p:spPr>
          <a:xfrm>
            <a:off x="548640" y="1965960"/>
            <a:ext cx="7315200" cy="365760"/>
          </a:xfrm>
          <a:prstGeom prst="rect">
            <a:avLst/>
          </a:prstGeom>
          <a:noFill/>
          <a:ln/>
        </p:spPr>
        <p:txBody>
          <a:bodyPr wrap="square" lIns="0" tIns="0" rIns="0" bIns="0" rtlCol="0" anchor="ctr"/>
          <a:lstStyle/>
          <a:p>
            <a:pPr indent="0" marL="0">
              <a:buNone/>
            </a:pPr>
            <a:r>
              <a:rPr lang="en-US" sz="1300" b="1" spc="200" kern="0" dirty="0">
                <a:solidFill>
                  <a:srgbClr val="F2B441"/>
                </a:solidFill>
                <a:latin typeface="Calibri" pitchFamily="34" charset="0"/>
                <a:ea typeface="Calibri" pitchFamily="34" charset="-122"/>
                <a:cs typeface="Calibri" pitchFamily="34" charset="-120"/>
              </a:rPr>
              <a:t>INTERNSHIP REPORT PRESENTATION</a:t>
            </a:r>
            <a:endParaRPr lang="en-US" sz="1300" dirty="0"/>
          </a:p>
        </p:txBody>
      </p:sp>
      <p:sp>
        <p:nvSpPr>
          <p:cNvPr id="8" name="Text 5"/>
          <p:cNvSpPr/>
          <p:nvPr/>
        </p:nvSpPr>
        <p:spPr>
          <a:xfrm>
            <a:off x="502920" y="2331720"/>
            <a:ext cx="9601200" cy="9601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Data Science Master</a:t>
            </a:r>
            <a:endParaRPr lang="en-US" sz="5400" dirty="0"/>
          </a:p>
        </p:txBody>
      </p:sp>
      <p:sp>
        <p:nvSpPr>
          <p:cNvPr id="9" name="Text 6"/>
          <p:cNvSpPr/>
          <p:nvPr/>
        </p:nvSpPr>
        <p:spPr>
          <a:xfrm>
            <a:off x="548640" y="3246120"/>
            <a:ext cx="8229600" cy="685800"/>
          </a:xfrm>
          <a:prstGeom prst="rect">
            <a:avLst/>
          </a:prstGeom>
          <a:noFill/>
          <a:ln/>
        </p:spPr>
        <p:txBody>
          <a:bodyPr wrap="square" lIns="0" tIns="0" rIns="0" bIns="0" rtlCol="0" anchor="ctr"/>
          <a:lstStyle/>
          <a:p>
            <a:pPr indent="0" marL="0">
              <a:buNone/>
            </a:pPr>
            <a:r>
              <a:rPr lang="en-US" sz="3200" dirty="0">
                <a:solidFill>
                  <a:srgbClr val="CADCE0"/>
                </a:solidFill>
                <a:latin typeface="Cambria" pitchFamily="34" charset="0"/>
                <a:ea typeface="Cambria" pitchFamily="34" charset="-122"/>
                <a:cs typeface="Cambria" pitchFamily="34" charset="-120"/>
              </a:rPr>
              <a:t>Virtual Internship</a:t>
            </a:r>
            <a:endParaRPr lang="en-US" sz="3200" dirty="0"/>
          </a:p>
        </p:txBody>
      </p:sp>
      <p:sp>
        <p:nvSpPr>
          <p:cNvPr id="10" name="Text 7"/>
          <p:cNvSpPr/>
          <p:nvPr/>
        </p:nvSpPr>
        <p:spPr>
          <a:xfrm>
            <a:off x="548640" y="4023360"/>
            <a:ext cx="9144000" cy="365760"/>
          </a:xfrm>
          <a:prstGeom prst="rect">
            <a:avLst/>
          </a:prstGeom>
          <a:noFill/>
          <a:ln/>
        </p:spPr>
        <p:txBody>
          <a:bodyPr wrap="square" lIns="0" tIns="0" rIns="0" bIns="0" rtlCol="0" anchor="ctr"/>
          <a:lstStyle/>
          <a:p>
            <a:pPr indent="0" marL="0">
              <a:buNone/>
            </a:pPr>
            <a:r>
              <a:rPr lang="en-US" sz="1400" dirty="0">
                <a:solidFill>
                  <a:srgbClr val="B9CDD1"/>
                </a:solidFill>
                <a:latin typeface="Calibri" pitchFamily="34" charset="0"/>
                <a:ea typeface="Calibri" pitchFamily="34" charset="-122"/>
                <a:cs typeface="Calibri" pitchFamily="34" charset="-120"/>
              </a:rPr>
              <a:t>AICTE – EduSkills Virtual Internship Program  |  Supported by Siemens</a:t>
            </a:r>
            <a:endParaRPr lang="en-US" sz="1400" dirty="0"/>
          </a:p>
        </p:txBody>
      </p:sp>
      <p:sp>
        <p:nvSpPr>
          <p:cNvPr id="11" name="Shape 8"/>
          <p:cNvSpPr/>
          <p:nvPr/>
        </p:nvSpPr>
        <p:spPr>
          <a:xfrm>
            <a:off x="566928" y="4553712"/>
            <a:ext cx="1828800" cy="0"/>
          </a:xfrm>
          <a:prstGeom prst="line">
            <a:avLst/>
          </a:prstGeom>
          <a:noFill/>
          <a:ln w="28575">
            <a:solidFill>
              <a:srgbClr val="F2B441"/>
            </a:solidFill>
            <a:prstDash val="solid"/>
          </a:ln>
        </p:spPr>
      </p:sp>
      <p:sp>
        <p:nvSpPr>
          <p:cNvPr id="12" name="Text 9"/>
          <p:cNvSpPr/>
          <p:nvPr/>
        </p:nvSpPr>
        <p:spPr>
          <a:xfrm>
            <a:off x="548640" y="4800600"/>
            <a:ext cx="7315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Tannu Kumari</a:t>
            </a:r>
            <a:endParaRPr lang="en-US" sz="1800" dirty="0"/>
          </a:p>
        </p:txBody>
      </p:sp>
      <p:sp>
        <p:nvSpPr>
          <p:cNvPr id="13" name="Text 10"/>
          <p:cNvSpPr/>
          <p:nvPr/>
        </p:nvSpPr>
        <p:spPr>
          <a:xfrm>
            <a:off x="548640" y="5193792"/>
            <a:ext cx="7315200" cy="292608"/>
          </a:xfrm>
          <a:prstGeom prst="rect">
            <a:avLst/>
          </a:prstGeom>
          <a:noFill/>
          <a:ln/>
        </p:spPr>
        <p:txBody>
          <a:bodyPr wrap="square" lIns="0" tIns="0" rIns="0" bIns="0" rtlCol="0" anchor="ctr"/>
          <a:lstStyle/>
          <a:p>
            <a:pPr indent="0" marL="0">
              <a:buNone/>
            </a:pPr>
            <a:r>
              <a:rPr lang="en-US" sz="1250" dirty="0">
                <a:solidFill>
                  <a:srgbClr val="9FB8BC"/>
                </a:solidFill>
                <a:latin typeface="Calibri" pitchFamily="34" charset="0"/>
                <a:ea typeface="Calibri" pitchFamily="34" charset="-122"/>
                <a:cs typeface="Calibri" pitchFamily="34" charset="-120"/>
              </a:rPr>
              <a:t>IILM University, Greater Noida</a:t>
            </a:r>
            <a:endParaRPr lang="en-US" sz="1250" dirty="0"/>
          </a:p>
        </p:txBody>
      </p:sp>
      <p:sp>
        <p:nvSpPr>
          <p:cNvPr id="14" name="Text 11"/>
          <p:cNvSpPr/>
          <p:nvPr/>
        </p:nvSpPr>
        <p:spPr>
          <a:xfrm>
            <a:off x="548640" y="5468112"/>
            <a:ext cx="7315200" cy="292608"/>
          </a:xfrm>
          <a:prstGeom prst="rect">
            <a:avLst/>
          </a:prstGeom>
          <a:noFill/>
          <a:ln/>
        </p:spPr>
        <p:txBody>
          <a:bodyPr wrap="square" lIns="0" tIns="0" rIns="0" bIns="0" rtlCol="0" anchor="ctr"/>
          <a:lstStyle/>
          <a:p>
            <a:pPr indent="0" marL="0">
              <a:buNone/>
            </a:pPr>
            <a:r>
              <a:rPr lang="en-US" sz="1250" dirty="0">
                <a:solidFill>
                  <a:srgbClr val="9FB8BC"/>
                </a:solidFill>
                <a:latin typeface="Calibri" pitchFamily="34" charset="0"/>
                <a:ea typeface="Calibri" pitchFamily="34" charset="-122"/>
                <a:cs typeface="Calibri" pitchFamily="34" charset="-120"/>
              </a:rPr>
              <a:t>April – June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17323D"/>
          </a:solidFill>
          <a:ln/>
        </p:spPr>
      </p:sp>
      <p:sp>
        <p:nvSpPr>
          <p:cNvPr id="3" name="Shape 1"/>
          <p:cNvSpPr/>
          <p:nvPr/>
        </p:nvSpPr>
        <p:spPr>
          <a:xfrm>
            <a:off x="-1280160" y="4846320"/>
            <a:ext cx="3840480" cy="3840480"/>
          </a:xfrm>
          <a:prstGeom prst="ellipse">
            <a:avLst/>
          </a:prstGeom>
          <a:solidFill>
            <a:srgbClr val="028090">
              <a:alpha val="45000"/>
            </a:srgbClr>
          </a:solidFill>
          <a:ln/>
        </p:spPr>
      </p:sp>
      <p:sp>
        <p:nvSpPr>
          <p:cNvPr id="4" name="Shape 2"/>
          <p:cNvSpPr/>
          <p:nvPr/>
        </p:nvSpPr>
        <p:spPr>
          <a:xfrm>
            <a:off x="1325880" y="868680"/>
            <a:ext cx="914400" cy="914400"/>
          </a:xfrm>
          <a:prstGeom prst="ellipse">
            <a:avLst/>
          </a:prstGeom>
          <a:solidFill>
            <a:srgbClr val="22454F"/>
          </a:solidFill>
          <a:ln/>
        </p:spPr>
      </p:sp>
      <p:sp>
        <p:nvSpPr>
          <p:cNvPr id="5" name="Text 3"/>
          <p:cNvSpPr/>
          <p:nvPr/>
        </p:nvSpPr>
        <p:spPr>
          <a:xfrm>
            <a:off x="1325880" y="868680"/>
            <a:ext cx="914400" cy="91440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6" name="Text 4"/>
          <p:cNvSpPr/>
          <p:nvPr/>
        </p:nvSpPr>
        <p:spPr>
          <a:xfrm>
            <a:off x="274320" y="2057400"/>
            <a:ext cx="301752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Tannu</a:t>
            </a:r>
            <a:endParaRPr lang="en-US" sz="2600" dirty="0"/>
          </a:p>
          <a:p>
            <a:pPr algn="ctr" indent="0" marL="0">
              <a:buNone/>
            </a:pPr>
            <a:r>
              <a:rPr lang="en-US" sz="2600" b="1" dirty="0">
                <a:solidFill>
                  <a:srgbClr val="FFFFFF"/>
                </a:solidFill>
                <a:latin typeface="Cambria" pitchFamily="34" charset="0"/>
                <a:ea typeface="Cambria" pitchFamily="34" charset="-122"/>
                <a:cs typeface="Cambria" pitchFamily="34" charset="-120"/>
              </a:rPr>
              <a:t>Kumari</a:t>
            </a:r>
            <a:endParaRPr lang="en-US" sz="2600" dirty="0"/>
          </a:p>
        </p:txBody>
      </p:sp>
      <p:sp>
        <p:nvSpPr>
          <p:cNvPr id="7" name="Text 5"/>
          <p:cNvSpPr/>
          <p:nvPr/>
        </p:nvSpPr>
        <p:spPr>
          <a:xfrm>
            <a:off x="274320" y="3154680"/>
            <a:ext cx="3017520" cy="365760"/>
          </a:xfrm>
          <a:prstGeom prst="rect">
            <a:avLst/>
          </a:prstGeom>
          <a:noFill/>
          <a:ln/>
        </p:spPr>
        <p:txBody>
          <a:bodyPr wrap="square" lIns="0" tIns="0" rIns="0" bIns="0" rtlCol="0" anchor="ctr"/>
          <a:lstStyle/>
          <a:p>
            <a:pPr algn="ctr" indent="0" marL="0">
              <a:buNone/>
            </a:pPr>
            <a:r>
              <a:rPr lang="en-US" sz="1250" dirty="0">
                <a:solidFill>
                  <a:srgbClr val="9FB8BC"/>
                </a:solidFill>
                <a:latin typeface="Calibri" pitchFamily="34" charset="0"/>
                <a:ea typeface="Calibri" pitchFamily="34" charset="-122"/>
                <a:cs typeface="Calibri" pitchFamily="34" charset="-120"/>
              </a:rPr>
              <a:t>Data Science Master Program</a:t>
            </a:r>
            <a:endParaRPr lang="en-US" sz="1250" dirty="0"/>
          </a:p>
        </p:txBody>
      </p:sp>
      <p:sp>
        <p:nvSpPr>
          <p:cNvPr id="8" name="Text 6"/>
          <p:cNvSpPr/>
          <p:nvPr/>
        </p:nvSpPr>
        <p:spPr>
          <a:xfrm>
            <a:off x="4023360" y="566928"/>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ABOUT THE STUDENT</a:t>
            </a:r>
            <a:endParaRPr lang="en-US" sz="1200" dirty="0"/>
          </a:p>
        </p:txBody>
      </p:sp>
      <p:sp>
        <p:nvSpPr>
          <p:cNvPr id="9" name="Text 7"/>
          <p:cNvSpPr/>
          <p:nvPr/>
        </p:nvSpPr>
        <p:spPr>
          <a:xfrm>
            <a:off x="4023360" y="868680"/>
            <a:ext cx="73152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Candidate Profile</a:t>
            </a:r>
            <a:endParaRPr lang="en-US" sz="3200" dirty="0"/>
          </a:p>
        </p:txBody>
      </p:sp>
      <p:sp>
        <p:nvSpPr>
          <p:cNvPr id="10" name="Shape 8"/>
          <p:cNvSpPr/>
          <p:nvPr/>
        </p:nvSpPr>
        <p:spPr>
          <a:xfrm>
            <a:off x="4023360" y="1783080"/>
            <a:ext cx="502920" cy="502920"/>
          </a:xfrm>
          <a:prstGeom prst="ellipse">
            <a:avLst/>
          </a:prstGeom>
          <a:solidFill>
            <a:srgbClr val="DCEEEC"/>
          </a:solidFill>
          <a:ln/>
        </p:spPr>
      </p:sp>
      <p:sp>
        <p:nvSpPr>
          <p:cNvPr id="11" name="Text 9"/>
          <p:cNvSpPr/>
          <p:nvPr/>
        </p:nvSpPr>
        <p:spPr>
          <a:xfrm>
            <a:off x="4023360" y="178308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2" name="Text 10"/>
          <p:cNvSpPr/>
          <p:nvPr/>
        </p:nvSpPr>
        <p:spPr>
          <a:xfrm>
            <a:off x="4754880" y="1755648"/>
            <a:ext cx="685800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Roll Number</a:t>
            </a:r>
            <a:endParaRPr lang="en-US" sz="1250" dirty="0"/>
          </a:p>
        </p:txBody>
      </p:sp>
      <p:sp>
        <p:nvSpPr>
          <p:cNvPr id="13" name="Text 11"/>
          <p:cNvSpPr/>
          <p:nvPr/>
        </p:nvSpPr>
        <p:spPr>
          <a:xfrm>
            <a:off x="4754880" y="2029968"/>
            <a:ext cx="7040880" cy="32004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2410031602</a:t>
            </a:r>
            <a:endParaRPr lang="en-US" sz="1450" dirty="0"/>
          </a:p>
        </p:txBody>
      </p:sp>
      <p:sp>
        <p:nvSpPr>
          <p:cNvPr id="14" name="Shape 12"/>
          <p:cNvSpPr/>
          <p:nvPr/>
        </p:nvSpPr>
        <p:spPr>
          <a:xfrm>
            <a:off x="4023360" y="2651760"/>
            <a:ext cx="502920" cy="502920"/>
          </a:xfrm>
          <a:prstGeom prst="ellipse">
            <a:avLst/>
          </a:prstGeom>
          <a:solidFill>
            <a:srgbClr val="DCEEEC"/>
          </a:solidFill>
          <a:ln/>
        </p:spPr>
      </p:sp>
      <p:sp>
        <p:nvSpPr>
          <p:cNvPr id="15" name="Text 13"/>
          <p:cNvSpPr/>
          <p:nvPr/>
        </p:nvSpPr>
        <p:spPr>
          <a:xfrm>
            <a:off x="4023360" y="265176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ext 14"/>
          <p:cNvSpPr/>
          <p:nvPr/>
        </p:nvSpPr>
        <p:spPr>
          <a:xfrm>
            <a:off x="4754880" y="2624328"/>
            <a:ext cx="685800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Institute</a:t>
            </a:r>
            <a:endParaRPr lang="en-US" sz="1250" dirty="0"/>
          </a:p>
        </p:txBody>
      </p:sp>
      <p:sp>
        <p:nvSpPr>
          <p:cNvPr id="17" name="Text 15"/>
          <p:cNvSpPr/>
          <p:nvPr/>
        </p:nvSpPr>
        <p:spPr>
          <a:xfrm>
            <a:off x="4754880" y="2898648"/>
            <a:ext cx="7040880" cy="32004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IILM University, Greater Noida, U.P.</a:t>
            </a:r>
            <a:endParaRPr lang="en-US" sz="1450" dirty="0"/>
          </a:p>
        </p:txBody>
      </p:sp>
      <p:sp>
        <p:nvSpPr>
          <p:cNvPr id="18" name="Shape 16"/>
          <p:cNvSpPr/>
          <p:nvPr/>
        </p:nvSpPr>
        <p:spPr>
          <a:xfrm>
            <a:off x="4023360" y="3520440"/>
            <a:ext cx="502920" cy="502920"/>
          </a:xfrm>
          <a:prstGeom prst="ellipse">
            <a:avLst/>
          </a:prstGeom>
          <a:solidFill>
            <a:srgbClr val="DCEEEC"/>
          </a:solidFill>
          <a:ln/>
        </p:spPr>
      </p:sp>
      <p:sp>
        <p:nvSpPr>
          <p:cNvPr id="19" name="Text 17"/>
          <p:cNvSpPr/>
          <p:nvPr/>
        </p:nvSpPr>
        <p:spPr>
          <a:xfrm>
            <a:off x="4023360" y="352044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ext 18"/>
          <p:cNvSpPr/>
          <p:nvPr/>
        </p:nvSpPr>
        <p:spPr>
          <a:xfrm>
            <a:off x="4754880" y="3493008"/>
            <a:ext cx="685800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Programme</a:t>
            </a:r>
            <a:endParaRPr lang="en-US" sz="1250" dirty="0"/>
          </a:p>
        </p:txBody>
      </p:sp>
      <p:sp>
        <p:nvSpPr>
          <p:cNvPr id="21" name="Text 19"/>
          <p:cNvSpPr/>
          <p:nvPr/>
        </p:nvSpPr>
        <p:spPr>
          <a:xfrm>
            <a:off x="4754880" y="3767328"/>
            <a:ext cx="7040880" cy="32004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Data Science Master, AICTE–EduSkills Virtual Internship</a:t>
            </a:r>
            <a:endParaRPr lang="en-US" sz="1450" dirty="0"/>
          </a:p>
        </p:txBody>
      </p:sp>
      <p:sp>
        <p:nvSpPr>
          <p:cNvPr id="22" name="Shape 20"/>
          <p:cNvSpPr/>
          <p:nvPr/>
        </p:nvSpPr>
        <p:spPr>
          <a:xfrm>
            <a:off x="4023360" y="4389120"/>
            <a:ext cx="502920" cy="502920"/>
          </a:xfrm>
          <a:prstGeom prst="ellipse">
            <a:avLst/>
          </a:prstGeom>
          <a:solidFill>
            <a:srgbClr val="DCEEEC"/>
          </a:solidFill>
          <a:ln/>
        </p:spPr>
      </p:sp>
      <p:sp>
        <p:nvSpPr>
          <p:cNvPr id="23" name="Text 21"/>
          <p:cNvSpPr/>
          <p:nvPr/>
        </p:nvSpPr>
        <p:spPr>
          <a:xfrm>
            <a:off x="4023360" y="438912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ext 22"/>
          <p:cNvSpPr/>
          <p:nvPr/>
        </p:nvSpPr>
        <p:spPr>
          <a:xfrm>
            <a:off x="4754880" y="4361688"/>
            <a:ext cx="685800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Internship Domain</a:t>
            </a:r>
            <a:endParaRPr lang="en-US" sz="1250" dirty="0"/>
          </a:p>
        </p:txBody>
      </p:sp>
      <p:sp>
        <p:nvSpPr>
          <p:cNvPr id="25" name="Text 23"/>
          <p:cNvSpPr/>
          <p:nvPr/>
        </p:nvSpPr>
        <p:spPr>
          <a:xfrm>
            <a:off x="4754880" y="4636008"/>
            <a:ext cx="7040880" cy="32004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Data Science (Supported by Siemens)</a:t>
            </a:r>
            <a:endParaRPr lang="en-US" sz="1450" dirty="0"/>
          </a:p>
        </p:txBody>
      </p:sp>
      <p:sp>
        <p:nvSpPr>
          <p:cNvPr id="26" name="Shape 24"/>
          <p:cNvSpPr/>
          <p:nvPr/>
        </p:nvSpPr>
        <p:spPr>
          <a:xfrm>
            <a:off x="4023360" y="5257800"/>
            <a:ext cx="502920" cy="502920"/>
          </a:xfrm>
          <a:prstGeom prst="ellipse">
            <a:avLst/>
          </a:prstGeom>
          <a:solidFill>
            <a:srgbClr val="DCEEEC"/>
          </a:solidFill>
          <a:ln/>
        </p:spPr>
      </p:sp>
      <p:sp>
        <p:nvSpPr>
          <p:cNvPr id="27" name="Text 25"/>
          <p:cNvSpPr/>
          <p:nvPr/>
        </p:nvSpPr>
        <p:spPr>
          <a:xfrm>
            <a:off x="4023360" y="525780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ext 26"/>
          <p:cNvSpPr/>
          <p:nvPr/>
        </p:nvSpPr>
        <p:spPr>
          <a:xfrm>
            <a:off x="4754880" y="5230368"/>
            <a:ext cx="685800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Duration</a:t>
            </a:r>
            <a:endParaRPr lang="en-US" sz="1250" dirty="0"/>
          </a:p>
        </p:txBody>
      </p:sp>
      <p:sp>
        <p:nvSpPr>
          <p:cNvPr id="29" name="Text 27"/>
          <p:cNvSpPr/>
          <p:nvPr/>
        </p:nvSpPr>
        <p:spPr>
          <a:xfrm>
            <a:off x="4754880" y="5504688"/>
            <a:ext cx="7040880" cy="32004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8 Weeks | April – June 2026</a:t>
            </a:r>
            <a:endParaRPr lang="en-US" sz="1450" dirty="0"/>
          </a:p>
        </p:txBody>
      </p:sp>
      <p:sp>
        <p:nvSpPr>
          <p:cNvPr id="30" name="Text 28"/>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Tannu Kumari</a:t>
            </a:r>
            <a:endParaRPr lang="en-US" sz="1000" dirty="0"/>
          </a:p>
        </p:txBody>
      </p:sp>
      <p:sp>
        <p:nvSpPr>
          <p:cNvPr id="31" name="Text 29"/>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6F6"/>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ABOUT THE PROGRAM</a:t>
            </a:r>
            <a:endParaRPr lang="en-US" sz="1200" dirty="0"/>
          </a:p>
        </p:txBody>
      </p:sp>
      <p:sp>
        <p:nvSpPr>
          <p:cNvPr id="3" name="Text 1"/>
          <p:cNvSpPr/>
          <p:nvPr/>
        </p:nvSpPr>
        <p:spPr>
          <a:xfrm>
            <a:off x="548640" y="822960"/>
            <a:ext cx="100584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EduSkills, AICTE &amp; Siemens</a:t>
            </a:r>
            <a:endParaRPr lang="en-US" sz="3200" dirty="0"/>
          </a:p>
        </p:txBody>
      </p:sp>
      <p:sp>
        <p:nvSpPr>
          <p:cNvPr id="4" name="Text 2"/>
          <p:cNvSpPr/>
          <p:nvPr/>
        </p:nvSpPr>
        <p:spPr>
          <a:xfrm>
            <a:off x="548640" y="1508760"/>
            <a:ext cx="11064240" cy="1051560"/>
          </a:xfrm>
          <a:prstGeom prst="rect">
            <a:avLst/>
          </a:prstGeom>
          <a:noFill/>
          <a:ln/>
        </p:spPr>
        <p:txBody>
          <a:bodyPr wrap="square" lIns="0" tIns="0" rIns="0" bIns="0" rtlCol="0" anchor="t"/>
          <a:lstStyle/>
          <a:p>
            <a:pPr indent="0" marL="0">
              <a:lnSpc>
                <a:spcPct val="115000"/>
              </a:lnSpc>
              <a:buNone/>
            </a:pPr>
            <a:r>
              <a:rPr lang="en-US" sz="1350" dirty="0">
                <a:solidFill>
                  <a:srgbClr val="16262B"/>
                </a:solidFill>
                <a:latin typeface="Calibri" pitchFamily="34" charset="0"/>
                <a:ea typeface="Calibri" pitchFamily="34" charset="-122"/>
                <a:cs typeface="Calibri" pitchFamily="34" charset="-120"/>
              </a:rPr>
              <a:t>EduSkills Foundation is a non-profit organisation building an Industry 4.0-ready digital workforce in India. It partners with the All India Council for Technical Education (AICTE) to run the AICTE–EduSkills Virtual Internship Program under the AICTE National Internship Portal. For the Data Science Master track, EduSkills collaborates with Siemens, whose Altair/RapidMiner Academy delivers an industry-aligned, no-code-to-code data science curriculum through structured learning modules and a capstone project.</a:t>
            </a:r>
            <a:endParaRPr lang="en-US" sz="1350" dirty="0"/>
          </a:p>
        </p:txBody>
      </p:sp>
      <p:sp>
        <p:nvSpPr>
          <p:cNvPr id="5" name="Shape 3"/>
          <p:cNvSpPr/>
          <p:nvPr/>
        </p:nvSpPr>
        <p:spPr>
          <a:xfrm>
            <a:off x="548640" y="2926080"/>
            <a:ext cx="3566160" cy="2606040"/>
          </a:xfrm>
          <a:prstGeom prst="roundRect">
            <a:avLst>
              <a:gd name="adj" fmla="val 2807"/>
            </a:avLst>
          </a:prstGeom>
          <a:solidFill>
            <a:srgbClr val="FFFFFF"/>
          </a:solidFill>
          <a:ln/>
          <a:effectLst>
            <a:outerShdw sx="100000" sy="100000" kx="0" ky="0" algn="bl" rotWithShape="0" blurRad="101600" dist="38100" dir="5400000">
              <a:srgbClr val="1F2A2E">
                <a:alpha val="12000"/>
              </a:srgbClr>
            </a:outerShdw>
          </a:effectLst>
        </p:spPr>
      </p:sp>
      <p:sp>
        <p:nvSpPr>
          <p:cNvPr id="6" name="Shape 4"/>
          <p:cNvSpPr/>
          <p:nvPr/>
        </p:nvSpPr>
        <p:spPr>
          <a:xfrm>
            <a:off x="1874520" y="3200400"/>
            <a:ext cx="914400" cy="914400"/>
          </a:xfrm>
          <a:prstGeom prst="ellipse">
            <a:avLst/>
          </a:prstGeom>
          <a:solidFill>
            <a:srgbClr val="DCEEEC"/>
          </a:solidFill>
          <a:ln/>
        </p:spPr>
      </p:sp>
      <p:sp>
        <p:nvSpPr>
          <p:cNvPr id="7" name="Text 5"/>
          <p:cNvSpPr/>
          <p:nvPr/>
        </p:nvSpPr>
        <p:spPr>
          <a:xfrm>
            <a:off x="1874520" y="320040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8" name="Text 6"/>
          <p:cNvSpPr/>
          <p:nvPr/>
        </p:nvSpPr>
        <p:spPr>
          <a:xfrm>
            <a:off x="777240" y="4251960"/>
            <a:ext cx="3108960" cy="365760"/>
          </a:xfrm>
          <a:prstGeom prst="rect">
            <a:avLst/>
          </a:prstGeom>
          <a:noFill/>
          <a:ln/>
        </p:spPr>
        <p:txBody>
          <a:bodyPr wrap="square" lIns="0" tIns="0" rIns="0" bIns="0" rtlCol="0" anchor="ctr"/>
          <a:lstStyle/>
          <a:p>
            <a:pPr algn="ctr" indent="0" marL="0">
              <a:buNone/>
            </a:pPr>
            <a:r>
              <a:rPr lang="en-US" sz="1500" b="1" dirty="0">
                <a:solidFill>
                  <a:srgbClr val="16262B"/>
                </a:solidFill>
                <a:latin typeface="Calibri" pitchFamily="34" charset="0"/>
                <a:ea typeface="Calibri" pitchFamily="34" charset="-122"/>
                <a:cs typeface="Calibri" pitchFamily="34" charset="-120"/>
              </a:rPr>
              <a:t>Nation Building</a:t>
            </a:r>
            <a:endParaRPr lang="en-US" sz="1500" dirty="0"/>
          </a:p>
        </p:txBody>
      </p:sp>
      <p:sp>
        <p:nvSpPr>
          <p:cNvPr id="9" name="Text 7"/>
          <p:cNvSpPr/>
          <p:nvPr/>
        </p:nvSpPr>
        <p:spPr>
          <a:xfrm>
            <a:off x="777240" y="4645152"/>
            <a:ext cx="3108960" cy="777240"/>
          </a:xfrm>
          <a:prstGeom prst="rect">
            <a:avLst/>
          </a:prstGeom>
          <a:noFill/>
          <a:ln/>
        </p:spPr>
        <p:txBody>
          <a:bodyPr wrap="square" lIns="0" tIns="0" rIns="0" bIns="0" rtlCol="0" anchor="t"/>
          <a:lstStyle/>
          <a:p>
            <a:pPr algn="ctr" indent="0" marL="0">
              <a:buNone/>
            </a:pPr>
            <a:r>
              <a:rPr lang="en-US" sz="1100" dirty="0">
                <a:solidFill>
                  <a:srgbClr val="5B7278"/>
                </a:solidFill>
                <a:latin typeface="Calibri" pitchFamily="34" charset="0"/>
                <a:ea typeface="Calibri" pitchFamily="34" charset="-122"/>
                <a:cs typeface="Calibri" pitchFamily="34" charset="-120"/>
              </a:rPr>
              <a:t>EduSkills works under the theme “Nation Building Through Skills” for India's students.</a:t>
            </a:r>
            <a:endParaRPr lang="en-US" sz="1100" dirty="0"/>
          </a:p>
        </p:txBody>
      </p:sp>
      <p:sp>
        <p:nvSpPr>
          <p:cNvPr id="10" name="Shape 8"/>
          <p:cNvSpPr/>
          <p:nvPr/>
        </p:nvSpPr>
        <p:spPr>
          <a:xfrm>
            <a:off x="4343400" y="2926080"/>
            <a:ext cx="3566160" cy="2606040"/>
          </a:xfrm>
          <a:prstGeom prst="roundRect">
            <a:avLst>
              <a:gd name="adj" fmla="val 2807"/>
            </a:avLst>
          </a:prstGeom>
          <a:solidFill>
            <a:srgbClr val="FFFFFF"/>
          </a:solidFill>
          <a:ln/>
          <a:effectLst>
            <a:outerShdw sx="100000" sy="100000" kx="0" ky="0" algn="bl" rotWithShape="0" blurRad="101600" dist="38100" dir="5400000">
              <a:srgbClr val="1F2A2E">
                <a:alpha val="12000"/>
              </a:srgbClr>
            </a:outerShdw>
          </a:effectLst>
        </p:spPr>
      </p:sp>
      <p:sp>
        <p:nvSpPr>
          <p:cNvPr id="11" name="Shape 9"/>
          <p:cNvSpPr/>
          <p:nvPr/>
        </p:nvSpPr>
        <p:spPr>
          <a:xfrm>
            <a:off x="5669280" y="3200400"/>
            <a:ext cx="914400" cy="914400"/>
          </a:xfrm>
          <a:prstGeom prst="ellipse">
            <a:avLst/>
          </a:prstGeom>
          <a:solidFill>
            <a:srgbClr val="DCEEEC"/>
          </a:solidFill>
          <a:ln/>
        </p:spPr>
      </p:sp>
      <p:sp>
        <p:nvSpPr>
          <p:cNvPr id="12" name="Text 10"/>
          <p:cNvSpPr/>
          <p:nvPr/>
        </p:nvSpPr>
        <p:spPr>
          <a:xfrm>
            <a:off x="5669280" y="320040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4572000" y="4251960"/>
            <a:ext cx="3108960" cy="365760"/>
          </a:xfrm>
          <a:prstGeom prst="rect">
            <a:avLst/>
          </a:prstGeom>
          <a:noFill/>
          <a:ln/>
        </p:spPr>
        <p:txBody>
          <a:bodyPr wrap="square" lIns="0" tIns="0" rIns="0" bIns="0" rtlCol="0" anchor="ctr"/>
          <a:lstStyle/>
          <a:p>
            <a:pPr algn="ctr" indent="0" marL="0">
              <a:buNone/>
            </a:pPr>
            <a:r>
              <a:rPr lang="en-US" sz="1500" b="1" dirty="0">
                <a:solidFill>
                  <a:srgbClr val="16262B"/>
                </a:solidFill>
                <a:latin typeface="Calibri" pitchFamily="34" charset="0"/>
                <a:ea typeface="Calibri" pitchFamily="34" charset="-122"/>
                <a:cs typeface="Calibri" pitchFamily="34" charset="-120"/>
              </a:rPr>
              <a:t>AICTE Patronage</a:t>
            </a:r>
            <a:endParaRPr lang="en-US" sz="1500" dirty="0"/>
          </a:p>
        </p:txBody>
      </p:sp>
      <p:sp>
        <p:nvSpPr>
          <p:cNvPr id="14" name="Text 12"/>
          <p:cNvSpPr/>
          <p:nvPr/>
        </p:nvSpPr>
        <p:spPr>
          <a:xfrm>
            <a:off x="4572000" y="4645152"/>
            <a:ext cx="3108960" cy="777240"/>
          </a:xfrm>
          <a:prstGeom prst="rect">
            <a:avLst/>
          </a:prstGeom>
          <a:noFill/>
          <a:ln/>
        </p:spPr>
        <p:txBody>
          <a:bodyPr wrap="square" lIns="0" tIns="0" rIns="0" bIns="0" rtlCol="0" anchor="t"/>
          <a:lstStyle/>
          <a:p>
            <a:pPr algn="ctr" indent="0" marL="0">
              <a:buNone/>
            </a:pPr>
            <a:r>
              <a:rPr lang="en-US" sz="1100" dirty="0">
                <a:solidFill>
                  <a:srgbClr val="5B7278"/>
                </a:solidFill>
                <a:latin typeface="Calibri" pitchFamily="34" charset="0"/>
                <a:ea typeface="Calibri" pitchFamily="34" charset="-122"/>
                <a:cs typeface="Calibri" pitchFamily="34" charset="-120"/>
              </a:rPr>
              <a:t>Run under the AICTE National Internship Portal, jointly certified with the Ministry of Education.</a:t>
            </a:r>
            <a:endParaRPr lang="en-US" sz="1100" dirty="0"/>
          </a:p>
        </p:txBody>
      </p:sp>
      <p:sp>
        <p:nvSpPr>
          <p:cNvPr id="15" name="Shape 13"/>
          <p:cNvSpPr/>
          <p:nvPr/>
        </p:nvSpPr>
        <p:spPr>
          <a:xfrm>
            <a:off x="8138160" y="2926080"/>
            <a:ext cx="3566160" cy="2606040"/>
          </a:xfrm>
          <a:prstGeom prst="roundRect">
            <a:avLst>
              <a:gd name="adj" fmla="val 2807"/>
            </a:avLst>
          </a:prstGeom>
          <a:solidFill>
            <a:srgbClr val="FFFFFF"/>
          </a:solidFill>
          <a:ln/>
          <a:effectLst>
            <a:outerShdw sx="100000" sy="100000" kx="0" ky="0" algn="bl" rotWithShape="0" blurRad="101600" dist="38100" dir="5400000">
              <a:srgbClr val="1F2A2E">
                <a:alpha val="12000"/>
              </a:srgbClr>
            </a:outerShdw>
          </a:effectLst>
        </p:spPr>
      </p:sp>
      <p:sp>
        <p:nvSpPr>
          <p:cNvPr id="16" name="Shape 14"/>
          <p:cNvSpPr/>
          <p:nvPr/>
        </p:nvSpPr>
        <p:spPr>
          <a:xfrm>
            <a:off x="9464040" y="3200400"/>
            <a:ext cx="914400" cy="914400"/>
          </a:xfrm>
          <a:prstGeom prst="ellipse">
            <a:avLst/>
          </a:prstGeom>
          <a:solidFill>
            <a:srgbClr val="DCEEEC"/>
          </a:solidFill>
          <a:ln/>
        </p:spPr>
      </p:sp>
      <p:sp>
        <p:nvSpPr>
          <p:cNvPr id="17" name="Text 15"/>
          <p:cNvSpPr/>
          <p:nvPr/>
        </p:nvSpPr>
        <p:spPr>
          <a:xfrm>
            <a:off x="9464040" y="320040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8366760" y="4251960"/>
            <a:ext cx="3108960" cy="365760"/>
          </a:xfrm>
          <a:prstGeom prst="rect">
            <a:avLst/>
          </a:prstGeom>
          <a:noFill/>
          <a:ln/>
        </p:spPr>
        <p:txBody>
          <a:bodyPr wrap="square" lIns="0" tIns="0" rIns="0" bIns="0" rtlCol="0" anchor="ctr"/>
          <a:lstStyle/>
          <a:p>
            <a:pPr algn="ctr" indent="0" marL="0">
              <a:buNone/>
            </a:pPr>
            <a:r>
              <a:rPr lang="en-US" sz="1500" b="1" dirty="0">
                <a:solidFill>
                  <a:srgbClr val="16262B"/>
                </a:solidFill>
                <a:latin typeface="Calibri" pitchFamily="34" charset="0"/>
                <a:ea typeface="Calibri" pitchFamily="34" charset="-122"/>
                <a:cs typeface="Calibri" pitchFamily="34" charset="-120"/>
              </a:rPr>
              <a:t>Siemens Support</a:t>
            </a:r>
            <a:endParaRPr lang="en-US" sz="1500" dirty="0"/>
          </a:p>
        </p:txBody>
      </p:sp>
      <p:sp>
        <p:nvSpPr>
          <p:cNvPr id="19" name="Text 17"/>
          <p:cNvSpPr/>
          <p:nvPr/>
        </p:nvSpPr>
        <p:spPr>
          <a:xfrm>
            <a:off x="8366760" y="4645152"/>
            <a:ext cx="3108960" cy="777240"/>
          </a:xfrm>
          <a:prstGeom prst="rect">
            <a:avLst/>
          </a:prstGeom>
          <a:noFill/>
          <a:ln/>
        </p:spPr>
        <p:txBody>
          <a:bodyPr wrap="square" lIns="0" tIns="0" rIns="0" bIns="0" rtlCol="0" anchor="t"/>
          <a:lstStyle/>
          <a:p>
            <a:pPr algn="ctr" indent="0" marL="0">
              <a:buNone/>
            </a:pPr>
            <a:r>
              <a:rPr lang="en-US" sz="1100" dirty="0">
                <a:solidFill>
                  <a:srgbClr val="5B7278"/>
                </a:solidFill>
                <a:latin typeface="Calibri" pitchFamily="34" charset="0"/>
                <a:ea typeface="Calibri" pitchFamily="34" charset="-122"/>
                <a:cs typeface="Calibri" pitchFamily="34" charset="-120"/>
              </a:rPr>
              <a:t>Industry curriculum delivered via Siemens' Altair/RapidMiner Academy learning pathways.</a:t>
            </a:r>
            <a:endParaRPr lang="en-US" sz="1100" dirty="0"/>
          </a:p>
        </p:txBody>
      </p:sp>
      <p:sp>
        <p:nvSpPr>
          <p:cNvPr id="20" name="Text 18"/>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Tannu Kumari</a:t>
            </a:r>
            <a:endParaRPr lang="en-US" sz="1000" dirty="0"/>
          </a:p>
        </p:txBody>
      </p:sp>
      <p:sp>
        <p:nvSpPr>
          <p:cNvPr id="21" name="Text 19"/>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822960"/>
            <a:ext cx="109728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Bridging Theory and Applied Data Science</a:t>
            </a:r>
            <a:endParaRPr lang="en-US" sz="3200" dirty="0"/>
          </a:p>
        </p:txBody>
      </p:sp>
      <p:sp>
        <p:nvSpPr>
          <p:cNvPr id="4" name="Shape 2"/>
          <p:cNvSpPr/>
          <p:nvPr/>
        </p:nvSpPr>
        <p:spPr>
          <a:xfrm>
            <a:off x="548640" y="1691640"/>
            <a:ext cx="11064240" cy="1417320"/>
          </a:xfrm>
          <a:prstGeom prst="roundRect">
            <a:avLst>
              <a:gd name="adj" fmla="val 3871"/>
            </a:avLst>
          </a:prstGeom>
          <a:solidFill>
            <a:srgbClr val="F0F6F6"/>
          </a:solidFill>
          <a:ln/>
        </p:spPr>
      </p:sp>
      <p:sp>
        <p:nvSpPr>
          <p:cNvPr id="5" name="Text 3"/>
          <p:cNvSpPr/>
          <p:nvPr/>
        </p:nvSpPr>
        <p:spPr>
          <a:xfrm>
            <a:off x="868680" y="1874520"/>
            <a:ext cx="10424160" cy="1097280"/>
          </a:xfrm>
          <a:prstGeom prst="rect">
            <a:avLst/>
          </a:prstGeom>
          <a:noFill/>
          <a:ln/>
        </p:spPr>
        <p:txBody>
          <a:bodyPr wrap="square" lIns="0" tIns="0" rIns="0" bIns="0" rtlCol="0" anchor="t"/>
          <a:lstStyle/>
          <a:p>
            <a:pPr indent="0" marL="0">
              <a:lnSpc>
                <a:spcPct val="115000"/>
              </a:lnSpc>
              <a:buNone/>
            </a:pPr>
            <a:r>
              <a:rPr lang="en-US" sz="1300" dirty="0">
                <a:solidFill>
                  <a:srgbClr val="16262B"/>
                </a:solidFill>
                <a:latin typeface="Calibri" pitchFamily="34" charset="0"/>
                <a:ea typeface="Calibri" pitchFamily="34" charset="-122"/>
                <a:cs typeface="Calibri" pitchFamily="34" charset="-120"/>
              </a:rPr>
              <a:t>Although many students learn statistics and machine learning theory in coursework, very few get structured, hands-on exposure to the full data science lifecycle — from cleaning messy real-world data to building, evaluating and communicating predictive models. Concepts such as regression, classification and model tuning are often understood only theoretically, with little practice applying them to real datasets using industry tools.</a:t>
            </a:r>
            <a:endParaRPr lang="en-US" sz="1300" dirty="0"/>
          </a:p>
        </p:txBody>
      </p:sp>
      <p:sp>
        <p:nvSpPr>
          <p:cNvPr id="6" name="Text 4"/>
          <p:cNvSpPr/>
          <p:nvPr/>
        </p:nvSpPr>
        <p:spPr>
          <a:xfrm>
            <a:off x="548640" y="3429000"/>
            <a:ext cx="10515600" cy="365760"/>
          </a:xfrm>
          <a:prstGeom prst="rect">
            <a:avLst/>
          </a:prstGeom>
          <a:noFill/>
          <a:ln/>
        </p:spPr>
        <p:txBody>
          <a:bodyPr wrap="square" lIns="0" tIns="0" rIns="0" bIns="0" rtlCol="0" anchor="ctr"/>
          <a:lstStyle/>
          <a:p>
            <a:pPr indent="0" marL="0">
              <a:buNone/>
            </a:pPr>
            <a:r>
              <a:rPr lang="en-US" sz="1350" b="1" dirty="0">
                <a:solidFill>
                  <a:srgbClr val="16262B"/>
                </a:solidFill>
                <a:latin typeface="Calibri" pitchFamily="34" charset="0"/>
                <a:ea typeface="Calibri" pitchFamily="34" charset="-122"/>
                <a:cs typeface="Calibri" pitchFamily="34" charset="-120"/>
              </a:rPr>
              <a:t>This internship addressed that gap — practically learning the full data science workflow:</a:t>
            </a:r>
            <a:endParaRPr lang="en-US" sz="1350" dirty="0"/>
          </a:p>
        </p:txBody>
      </p:sp>
      <p:sp>
        <p:nvSpPr>
          <p:cNvPr id="7" name="Shape 5"/>
          <p:cNvSpPr/>
          <p:nvPr/>
        </p:nvSpPr>
        <p:spPr>
          <a:xfrm>
            <a:off x="548640" y="3977640"/>
            <a:ext cx="2514600" cy="1417320"/>
          </a:xfrm>
          <a:prstGeom prst="roundRect">
            <a:avLst>
              <a:gd name="adj" fmla="val 5161"/>
            </a:avLst>
          </a:prstGeom>
          <a:solidFill>
            <a:srgbClr val="028090"/>
          </a:solidFill>
          <a:ln/>
        </p:spPr>
      </p:sp>
      <p:sp>
        <p:nvSpPr>
          <p:cNvPr id="8" name="Text 6"/>
          <p:cNvSpPr/>
          <p:nvPr/>
        </p:nvSpPr>
        <p:spPr>
          <a:xfrm>
            <a:off x="548640" y="3977640"/>
            <a:ext cx="251460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Explore Data</a:t>
            </a:r>
            <a:endParaRPr lang="en-US" sz="1500" dirty="0"/>
          </a:p>
        </p:txBody>
      </p:sp>
      <p:sp>
        <p:nvSpPr>
          <p:cNvPr id="9" name="Text 7"/>
          <p:cNvSpPr/>
          <p:nvPr/>
        </p:nvSpPr>
        <p:spPr>
          <a:xfrm>
            <a:off x="3063240" y="3977640"/>
            <a:ext cx="384048" cy="1417320"/>
          </a:xfrm>
          <a:prstGeom prst="rect">
            <a:avLst/>
          </a:prstGeom>
          <a:noFill/>
          <a:ln/>
        </p:spPr>
        <p:txBody>
          <a:bodyPr wrap="square" lIns="0" tIns="0" rIns="0" bIns="0" rtlCol="0" anchor="ctr"/>
          <a:lstStyle/>
          <a:p>
            <a:pPr algn="ctr" indent="0" marL="0">
              <a:buNone/>
            </a:pPr>
            <a:r>
              <a:rPr lang="en-US" sz="2200" b="1" dirty="0">
                <a:solidFill>
                  <a:srgbClr val="028090"/>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447288" y="3977640"/>
            <a:ext cx="2514600" cy="1417320"/>
          </a:xfrm>
          <a:prstGeom prst="roundRect">
            <a:avLst>
              <a:gd name="adj" fmla="val 5161"/>
            </a:avLst>
          </a:prstGeom>
          <a:solidFill>
            <a:srgbClr val="028090"/>
          </a:solidFill>
          <a:ln/>
        </p:spPr>
      </p:sp>
      <p:sp>
        <p:nvSpPr>
          <p:cNvPr id="11" name="Text 9"/>
          <p:cNvSpPr/>
          <p:nvPr/>
        </p:nvSpPr>
        <p:spPr>
          <a:xfrm>
            <a:off x="3447288" y="3977640"/>
            <a:ext cx="251460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Build Models</a:t>
            </a:r>
            <a:endParaRPr lang="en-US" sz="1500" dirty="0"/>
          </a:p>
        </p:txBody>
      </p:sp>
      <p:sp>
        <p:nvSpPr>
          <p:cNvPr id="12" name="Text 10"/>
          <p:cNvSpPr/>
          <p:nvPr/>
        </p:nvSpPr>
        <p:spPr>
          <a:xfrm>
            <a:off x="5961888" y="3977640"/>
            <a:ext cx="384048" cy="1417320"/>
          </a:xfrm>
          <a:prstGeom prst="rect">
            <a:avLst/>
          </a:prstGeom>
          <a:noFill/>
          <a:ln/>
        </p:spPr>
        <p:txBody>
          <a:bodyPr wrap="square" lIns="0" tIns="0" rIns="0" bIns="0" rtlCol="0" anchor="ctr"/>
          <a:lstStyle/>
          <a:p>
            <a:pPr algn="ctr" indent="0" marL="0">
              <a:buNone/>
            </a:pPr>
            <a:r>
              <a:rPr lang="en-US" sz="2200" b="1" dirty="0">
                <a:solidFill>
                  <a:srgbClr val="028090"/>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6345936" y="3977640"/>
            <a:ext cx="2514600" cy="1417320"/>
          </a:xfrm>
          <a:prstGeom prst="roundRect">
            <a:avLst>
              <a:gd name="adj" fmla="val 5161"/>
            </a:avLst>
          </a:prstGeom>
          <a:solidFill>
            <a:srgbClr val="028090"/>
          </a:solidFill>
          <a:ln/>
        </p:spPr>
      </p:sp>
      <p:sp>
        <p:nvSpPr>
          <p:cNvPr id="14" name="Text 12"/>
          <p:cNvSpPr/>
          <p:nvPr/>
        </p:nvSpPr>
        <p:spPr>
          <a:xfrm>
            <a:off x="6345936" y="3977640"/>
            <a:ext cx="251460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Evaluate &amp; Tune</a:t>
            </a:r>
            <a:endParaRPr lang="en-US" sz="1500" dirty="0"/>
          </a:p>
        </p:txBody>
      </p:sp>
      <p:sp>
        <p:nvSpPr>
          <p:cNvPr id="15" name="Text 13"/>
          <p:cNvSpPr/>
          <p:nvPr/>
        </p:nvSpPr>
        <p:spPr>
          <a:xfrm>
            <a:off x="8860536" y="3977640"/>
            <a:ext cx="384048" cy="1417320"/>
          </a:xfrm>
          <a:prstGeom prst="rect">
            <a:avLst/>
          </a:prstGeom>
          <a:noFill/>
          <a:ln/>
        </p:spPr>
        <p:txBody>
          <a:bodyPr wrap="square" lIns="0" tIns="0" rIns="0" bIns="0" rtlCol="0" anchor="ctr"/>
          <a:lstStyle/>
          <a:p>
            <a:pPr algn="ctr" indent="0" marL="0">
              <a:buNone/>
            </a:pPr>
            <a:r>
              <a:rPr lang="en-US" sz="2200" b="1" dirty="0">
                <a:solidFill>
                  <a:srgbClr val="02809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244584" y="3977640"/>
            <a:ext cx="2514600" cy="1417320"/>
          </a:xfrm>
          <a:prstGeom prst="roundRect">
            <a:avLst>
              <a:gd name="adj" fmla="val 5161"/>
            </a:avLst>
          </a:prstGeom>
          <a:solidFill>
            <a:srgbClr val="028090"/>
          </a:solidFill>
          <a:ln/>
        </p:spPr>
      </p:sp>
      <p:sp>
        <p:nvSpPr>
          <p:cNvPr id="17" name="Text 15"/>
          <p:cNvSpPr/>
          <p:nvPr/>
        </p:nvSpPr>
        <p:spPr>
          <a:xfrm>
            <a:off x="9244584" y="3977640"/>
            <a:ext cx="251460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Deliver Insights</a:t>
            </a:r>
            <a:endParaRPr lang="en-US" sz="1500" dirty="0"/>
          </a:p>
        </p:txBody>
      </p:sp>
      <p:sp>
        <p:nvSpPr>
          <p:cNvPr id="18" name="Text 16"/>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Tannu Kumari</a:t>
            </a:r>
            <a:endParaRPr lang="en-US" sz="1000" dirty="0"/>
          </a:p>
        </p:txBody>
      </p:sp>
      <p:sp>
        <p:nvSpPr>
          <p:cNvPr id="19" name="Text 17"/>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6"/>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548640" y="822960"/>
            <a:ext cx="109728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What the Internship Set Out to Achieve</a:t>
            </a:r>
            <a:endParaRPr lang="en-US" sz="3200" dirty="0"/>
          </a:p>
        </p:txBody>
      </p:sp>
      <p:sp>
        <p:nvSpPr>
          <p:cNvPr id="4" name="Shape 2"/>
          <p:cNvSpPr/>
          <p:nvPr/>
        </p:nvSpPr>
        <p:spPr>
          <a:xfrm>
            <a:off x="548640" y="173736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5" name="Shape 3"/>
          <p:cNvSpPr/>
          <p:nvPr/>
        </p:nvSpPr>
        <p:spPr>
          <a:xfrm>
            <a:off x="822960" y="1993392"/>
            <a:ext cx="566928" cy="566928"/>
          </a:xfrm>
          <a:prstGeom prst="ellipse">
            <a:avLst/>
          </a:prstGeom>
          <a:solidFill>
            <a:srgbClr val="DCEEEC"/>
          </a:solidFill>
          <a:ln/>
        </p:spPr>
      </p:sp>
      <p:sp>
        <p:nvSpPr>
          <p:cNvPr id="6" name="Text 4"/>
          <p:cNvSpPr/>
          <p:nvPr/>
        </p:nvSpPr>
        <p:spPr>
          <a:xfrm>
            <a:off x="822960" y="199339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822960" y="265176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Data Wrangling</a:t>
            </a:r>
            <a:endParaRPr lang="en-US" sz="1450" dirty="0"/>
          </a:p>
        </p:txBody>
      </p:sp>
      <p:sp>
        <p:nvSpPr>
          <p:cNvPr id="8" name="Text 6"/>
          <p:cNvSpPr/>
          <p:nvPr/>
        </p:nvSpPr>
        <p:spPr>
          <a:xfrm>
            <a:off x="822960" y="299923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Clean, transform and prepare messy real-world datasets for analysis.</a:t>
            </a:r>
            <a:endParaRPr lang="en-US" sz="1100" dirty="0"/>
          </a:p>
        </p:txBody>
      </p:sp>
      <p:sp>
        <p:nvSpPr>
          <p:cNvPr id="9" name="Shape 7"/>
          <p:cNvSpPr/>
          <p:nvPr/>
        </p:nvSpPr>
        <p:spPr>
          <a:xfrm>
            <a:off x="4343400" y="173736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10" name="Shape 8"/>
          <p:cNvSpPr/>
          <p:nvPr/>
        </p:nvSpPr>
        <p:spPr>
          <a:xfrm>
            <a:off x="4617720" y="1993392"/>
            <a:ext cx="566928" cy="566928"/>
          </a:xfrm>
          <a:prstGeom prst="ellipse">
            <a:avLst/>
          </a:prstGeom>
          <a:solidFill>
            <a:srgbClr val="DCEEEC"/>
          </a:solidFill>
          <a:ln/>
        </p:spPr>
      </p:sp>
      <p:sp>
        <p:nvSpPr>
          <p:cNvPr id="11" name="Text 9"/>
          <p:cNvSpPr/>
          <p:nvPr/>
        </p:nvSpPr>
        <p:spPr>
          <a:xfrm>
            <a:off x="4617720" y="199339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2" name="Text 10"/>
          <p:cNvSpPr/>
          <p:nvPr/>
        </p:nvSpPr>
        <p:spPr>
          <a:xfrm>
            <a:off x="4617720" y="265176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Exploratory Analysis</a:t>
            </a:r>
            <a:endParaRPr lang="en-US" sz="1450" dirty="0"/>
          </a:p>
        </p:txBody>
      </p:sp>
      <p:sp>
        <p:nvSpPr>
          <p:cNvPr id="13" name="Text 11"/>
          <p:cNvSpPr/>
          <p:nvPr/>
        </p:nvSpPr>
        <p:spPr>
          <a:xfrm>
            <a:off x="4617720" y="299923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Uncover patterns and relationships through statistics and visualization.</a:t>
            </a:r>
            <a:endParaRPr lang="en-US" sz="1100" dirty="0"/>
          </a:p>
        </p:txBody>
      </p:sp>
      <p:sp>
        <p:nvSpPr>
          <p:cNvPr id="14" name="Shape 12"/>
          <p:cNvSpPr/>
          <p:nvPr/>
        </p:nvSpPr>
        <p:spPr>
          <a:xfrm>
            <a:off x="8138160" y="173736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15" name="Shape 13"/>
          <p:cNvSpPr/>
          <p:nvPr/>
        </p:nvSpPr>
        <p:spPr>
          <a:xfrm>
            <a:off x="8412480" y="1993392"/>
            <a:ext cx="566928" cy="566928"/>
          </a:xfrm>
          <a:prstGeom prst="ellipse">
            <a:avLst/>
          </a:prstGeom>
          <a:solidFill>
            <a:srgbClr val="DCEEEC"/>
          </a:solidFill>
          <a:ln/>
        </p:spPr>
      </p:sp>
      <p:sp>
        <p:nvSpPr>
          <p:cNvPr id="16" name="Text 14"/>
          <p:cNvSpPr/>
          <p:nvPr/>
        </p:nvSpPr>
        <p:spPr>
          <a:xfrm>
            <a:off x="8412480" y="199339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8412480" y="265176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Predictive Modeling</a:t>
            </a:r>
            <a:endParaRPr lang="en-US" sz="1450" dirty="0"/>
          </a:p>
        </p:txBody>
      </p:sp>
      <p:sp>
        <p:nvSpPr>
          <p:cNvPr id="18" name="Text 16"/>
          <p:cNvSpPr/>
          <p:nvPr/>
        </p:nvSpPr>
        <p:spPr>
          <a:xfrm>
            <a:off x="8412480" y="299923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Build regression &amp; classification models using Python and RapidMiner.</a:t>
            </a:r>
            <a:endParaRPr lang="en-US" sz="1100" dirty="0"/>
          </a:p>
        </p:txBody>
      </p:sp>
      <p:sp>
        <p:nvSpPr>
          <p:cNvPr id="19" name="Shape 17"/>
          <p:cNvSpPr/>
          <p:nvPr/>
        </p:nvSpPr>
        <p:spPr>
          <a:xfrm>
            <a:off x="548640" y="406908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20" name="Shape 18"/>
          <p:cNvSpPr/>
          <p:nvPr/>
        </p:nvSpPr>
        <p:spPr>
          <a:xfrm>
            <a:off x="822960" y="4325112"/>
            <a:ext cx="566928" cy="566928"/>
          </a:xfrm>
          <a:prstGeom prst="ellipse">
            <a:avLst/>
          </a:prstGeom>
          <a:solidFill>
            <a:srgbClr val="DCEEEC"/>
          </a:solidFill>
          <a:ln/>
        </p:spPr>
      </p:sp>
      <p:sp>
        <p:nvSpPr>
          <p:cNvPr id="21" name="Text 19"/>
          <p:cNvSpPr/>
          <p:nvPr/>
        </p:nvSpPr>
        <p:spPr>
          <a:xfrm>
            <a:off x="822960" y="432511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822960" y="498348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Model Evaluation</a:t>
            </a:r>
            <a:endParaRPr lang="en-US" sz="1450" dirty="0"/>
          </a:p>
        </p:txBody>
      </p:sp>
      <p:sp>
        <p:nvSpPr>
          <p:cNvPr id="23" name="Text 21"/>
          <p:cNvSpPr/>
          <p:nvPr/>
        </p:nvSpPr>
        <p:spPr>
          <a:xfrm>
            <a:off x="822960" y="533095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Validate, tune and compare models using standard performance metrics.</a:t>
            </a:r>
            <a:endParaRPr lang="en-US" sz="1100" dirty="0"/>
          </a:p>
        </p:txBody>
      </p:sp>
      <p:sp>
        <p:nvSpPr>
          <p:cNvPr id="24" name="Shape 22"/>
          <p:cNvSpPr/>
          <p:nvPr/>
        </p:nvSpPr>
        <p:spPr>
          <a:xfrm>
            <a:off x="4343400" y="406908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25" name="Shape 23"/>
          <p:cNvSpPr/>
          <p:nvPr/>
        </p:nvSpPr>
        <p:spPr>
          <a:xfrm>
            <a:off x="4617720" y="4325112"/>
            <a:ext cx="566928" cy="566928"/>
          </a:xfrm>
          <a:prstGeom prst="ellipse">
            <a:avLst/>
          </a:prstGeom>
          <a:solidFill>
            <a:srgbClr val="DCEEEC"/>
          </a:solidFill>
          <a:ln/>
        </p:spPr>
      </p:sp>
      <p:sp>
        <p:nvSpPr>
          <p:cNvPr id="26" name="Text 24"/>
          <p:cNvSpPr/>
          <p:nvPr/>
        </p:nvSpPr>
        <p:spPr>
          <a:xfrm>
            <a:off x="4617720" y="432511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4617720" y="498348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Insight Storytelling</a:t>
            </a:r>
            <a:endParaRPr lang="en-US" sz="1450" dirty="0"/>
          </a:p>
        </p:txBody>
      </p:sp>
      <p:sp>
        <p:nvSpPr>
          <p:cNvPr id="28" name="Text 26"/>
          <p:cNvSpPr/>
          <p:nvPr/>
        </p:nvSpPr>
        <p:spPr>
          <a:xfrm>
            <a:off x="4617720" y="533095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Communicate findings clearly through charts, dashboards and reports.</a:t>
            </a:r>
            <a:endParaRPr lang="en-US" sz="1100" dirty="0"/>
          </a:p>
        </p:txBody>
      </p:sp>
      <p:sp>
        <p:nvSpPr>
          <p:cNvPr id="29" name="Shape 27"/>
          <p:cNvSpPr/>
          <p:nvPr/>
        </p:nvSpPr>
        <p:spPr>
          <a:xfrm>
            <a:off x="8138160" y="406908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30" name="Shape 28"/>
          <p:cNvSpPr/>
          <p:nvPr/>
        </p:nvSpPr>
        <p:spPr>
          <a:xfrm>
            <a:off x="8412480" y="4325112"/>
            <a:ext cx="566928" cy="566928"/>
          </a:xfrm>
          <a:prstGeom prst="ellipse">
            <a:avLst/>
          </a:prstGeom>
          <a:solidFill>
            <a:srgbClr val="DCEEEC"/>
          </a:solidFill>
          <a:ln/>
        </p:spPr>
      </p:sp>
      <p:sp>
        <p:nvSpPr>
          <p:cNvPr id="31" name="Text 29"/>
          <p:cNvSpPr/>
          <p:nvPr/>
        </p:nvSpPr>
        <p:spPr>
          <a:xfrm>
            <a:off x="8412480" y="432511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ext 30"/>
          <p:cNvSpPr/>
          <p:nvPr/>
        </p:nvSpPr>
        <p:spPr>
          <a:xfrm>
            <a:off x="8412480" y="498348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Capstone Project</a:t>
            </a:r>
            <a:endParaRPr lang="en-US" sz="1450" dirty="0"/>
          </a:p>
        </p:txBody>
      </p:sp>
      <p:sp>
        <p:nvSpPr>
          <p:cNvPr id="33" name="Text 31"/>
          <p:cNvSpPr/>
          <p:nvPr/>
        </p:nvSpPr>
        <p:spPr>
          <a:xfrm>
            <a:off x="8412480" y="533095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Deliver an end-to-end data science case study from raw data to insight.</a:t>
            </a:r>
            <a:endParaRPr lang="en-US" sz="1100" dirty="0"/>
          </a:p>
        </p:txBody>
      </p:sp>
      <p:sp>
        <p:nvSpPr>
          <p:cNvPr id="34" name="Text 3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Tannu Kumari</a:t>
            </a:r>
            <a:endParaRPr lang="en-US" sz="1000" dirty="0"/>
          </a:p>
        </p:txBody>
      </p:sp>
      <p:sp>
        <p:nvSpPr>
          <p:cNvPr id="35" name="Text 33"/>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TECHNOLOGIES &amp; TOOLS</a:t>
            </a:r>
            <a:endParaRPr lang="en-US" sz="1200" dirty="0"/>
          </a:p>
        </p:txBody>
      </p:sp>
      <p:sp>
        <p:nvSpPr>
          <p:cNvPr id="3" name="Text 1"/>
          <p:cNvSpPr/>
          <p:nvPr/>
        </p:nvSpPr>
        <p:spPr>
          <a:xfrm>
            <a:off x="548640" y="822960"/>
            <a:ext cx="109728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The Toolkit Behind the Internship</a:t>
            </a:r>
            <a:endParaRPr lang="en-US" sz="3200" dirty="0"/>
          </a:p>
        </p:txBody>
      </p:sp>
      <p:sp>
        <p:nvSpPr>
          <p:cNvPr id="4" name="Shape 2"/>
          <p:cNvSpPr/>
          <p:nvPr/>
        </p:nvSpPr>
        <p:spPr>
          <a:xfrm>
            <a:off x="548640" y="1737360"/>
            <a:ext cx="2606040" cy="2148840"/>
          </a:xfrm>
          <a:prstGeom prst="roundRect">
            <a:avLst>
              <a:gd name="adj" fmla="val 3404"/>
            </a:avLst>
          </a:prstGeom>
          <a:solidFill>
            <a:srgbClr val="F0F6F6"/>
          </a:solidFill>
          <a:ln/>
        </p:spPr>
      </p:sp>
      <p:sp>
        <p:nvSpPr>
          <p:cNvPr id="5" name="Shape 3"/>
          <p:cNvSpPr/>
          <p:nvPr/>
        </p:nvSpPr>
        <p:spPr>
          <a:xfrm>
            <a:off x="1554480" y="2011680"/>
            <a:ext cx="594360" cy="594360"/>
          </a:xfrm>
          <a:prstGeom prst="ellipse">
            <a:avLst/>
          </a:prstGeom>
          <a:solidFill>
            <a:srgbClr val="FFFFFF"/>
          </a:solidFill>
          <a:ln/>
        </p:spPr>
      </p:sp>
      <p:sp>
        <p:nvSpPr>
          <p:cNvPr id="6" name="Text 4"/>
          <p:cNvSpPr/>
          <p:nvPr/>
        </p:nvSpPr>
        <p:spPr>
          <a:xfrm>
            <a:off x="1554480" y="201168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78892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Python</a:t>
            </a:r>
            <a:endParaRPr lang="en-US" sz="1350" dirty="0"/>
          </a:p>
        </p:txBody>
      </p:sp>
      <p:sp>
        <p:nvSpPr>
          <p:cNvPr id="8" name="Text 6"/>
          <p:cNvSpPr/>
          <p:nvPr/>
        </p:nvSpPr>
        <p:spPr>
          <a:xfrm>
            <a:off x="685800" y="327355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Core programming language</a:t>
            </a:r>
            <a:endParaRPr lang="en-US" sz="1050" dirty="0"/>
          </a:p>
        </p:txBody>
      </p:sp>
      <p:sp>
        <p:nvSpPr>
          <p:cNvPr id="9" name="Shape 7"/>
          <p:cNvSpPr/>
          <p:nvPr/>
        </p:nvSpPr>
        <p:spPr>
          <a:xfrm>
            <a:off x="3337560" y="1737360"/>
            <a:ext cx="2606040" cy="2148840"/>
          </a:xfrm>
          <a:prstGeom prst="roundRect">
            <a:avLst>
              <a:gd name="adj" fmla="val 3404"/>
            </a:avLst>
          </a:prstGeom>
          <a:solidFill>
            <a:srgbClr val="F0F6F6"/>
          </a:solidFill>
          <a:ln/>
        </p:spPr>
      </p:sp>
      <p:sp>
        <p:nvSpPr>
          <p:cNvPr id="10" name="Shape 8"/>
          <p:cNvSpPr/>
          <p:nvPr/>
        </p:nvSpPr>
        <p:spPr>
          <a:xfrm>
            <a:off x="4343400" y="2011680"/>
            <a:ext cx="594360" cy="594360"/>
          </a:xfrm>
          <a:prstGeom prst="ellipse">
            <a:avLst/>
          </a:prstGeom>
          <a:solidFill>
            <a:srgbClr val="FFFFFF"/>
          </a:solidFill>
          <a:ln/>
        </p:spPr>
      </p:sp>
      <p:sp>
        <p:nvSpPr>
          <p:cNvPr id="11" name="Text 9"/>
          <p:cNvSpPr/>
          <p:nvPr/>
        </p:nvSpPr>
        <p:spPr>
          <a:xfrm>
            <a:off x="4343400" y="201168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3474720" y="278892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Pandas &amp; NumPy</a:t>
            </a:r>
            <a:endParaRPr lang="en-US" sz="1350" dirty="0"/>
          </a:p>
        </p:txBody>
      </p:sp>
      <p:sp>
        <p:nvSpPr>
          <p:cNvPr id="13" name="Text 11"/>
          <p:cNvSpPr/>
          <p:nvPr/>
        </p:nvSpPr>
        <p:spPr>
          <a:xfrm>
            <a:off x="3474720" y="327355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Data wrangling &amp; analysis</a:t>
            </a:r>
            <a:endParaRPr lang="en-US" sz="1050" dirty="0"/>
          </a:p>
        </p:txBody>
      </p:sp>
      <p:sp>
        <p:nvSpPr>
          <p:cNvPr id="14" name="Shape 12"/>
          <p:cNvSpPr/>
          <p:nvPr/>
        </p:nvSpPr>
        <p:spPr>
          <a:xfrm>
            <a:off x="6126480" y="1737360"/>
            <a:ext cx="2606040" cy="2148840"/>
          </a:xfrm>
          <a:prstGeom prst="roundRect">
            <a:avLst>
              <a:gd name="adj" fmla="val 3404"/>
            </a:avLst>
          </a:prstGeom>
          <a:solidFill>
            <a:srgbClr val="F0F6F6"/>
          </a:solidFill>
          <a:ln/>
        </p:spPr>
      </p:sp>
      <p:sp>
        <p:nvSpPr>
          <p:cNvPr id="15" name="Shape 13"/>
          <p:cNvSpPr/>
          <p:nvPr/>
        </p:nvSpPr>
        <p:spPr>
          <a:xfrm>
            <a:off x="7132320" y="2011680"/>
            <a:ext cx="594360" cy="594360"/>
          </a:xfrm>
          <a:prstGeom prst="ellipse">
            <a:avLst/>
          </a:prstGeom>
          <a:solidFill>
            <a:srgbClr val="FFFFFF"/>
          </a:solidFill>
          <a:ln/>
        </p:spPr>
      </p:sp>
      <p:sp>
        <p:nvSpPr>
          <p:cNvPr id="16" name="Text 14"/>
          <p:cNvSpPr/>
          <p:nvPr/>
        </p:nvSpPr>
        <p:spPr>
          <a:xfrm>
            <a:off x="7132320" y="201168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6263640" y="278892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Matplotlib / Seaborn</a:t>
            </a:r>
            <a:endParaRPr lang="en-US" sz="1350" dirty="0"/>
          </a:p>
        </p:txBody>
      </p:sp>
      <p:sp>
        <p:nvSpPr>
          <p:cNvPr id="18" name="Text 16"/>
          <p:cNvSpPr/>
          <p:nvPr/>
        </p:nvSpPr>
        <p:spPr>
          <a:xfrm>
            <a:off x="6263640" y="327355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Data visualization</a:t>
            </a:r>
            <a:endParaRPr lang="en-US" sz="1050" dirty="0"/>
          </a:p>
        </p:txBody>
      </p:sp>
      <p:sp>
        <p:nvSpPr>
          <p:cNvPr id="19" name="Shape 17"/>
          <p:cNvSpPr/>
          <p:nvPr/>
        </p:nvSpPr>
        <p:spPr>
          <a:xfrm>
            <a:off x="8915400" y="1737360"/>
            <a:ext cx="2606040" cy="2148840"/>
          </a:xfrm>
          <a:prstGeom prst="roundRect">
            <a:avLst>
              <a:gd name="adj" fmla="val 3404"/>
            </a:avLst>
          </a:prstGeom>
          <a:solidFill>
            <a:srgbClr val="F0F6F6"/>
          </a:solidFill>
          <a:ln/>
        </p:spPr>
      </p:sp>
      <p:sp>
        <p:nvSpPr>
          <p:cNvPr id="20" name="Shape 18"/>
          <p:cNvSpPr/>
          <p:nvPr/>
        </p:nvSpPr>
        <p:spPr>
          <a:xfrm>
            <a:off x="9921240" y="2011680"/>
            <a:ext cx="594360" cy="594360"/>
          </a:xfrm>
          <a:prstGeom prst="ellipse">
            <a:avLst/>
          </a:prstGeom>
          <a:solidFill>
            <a:srgbClr val="FFFFFF"/>
          </a:solidFill>
          <a:ln/>
        </p:spPr>
      </p:sp>
      <p:sp>
        <p:nvSpPr>
          <p:cNvPr id="21" name="Text 19"/>
          <p:cNvSpPr/>
          <p:nvPr/>
        </p:nvSpPr>
        <p:spPr>
          <a:xfrm>
            <a:off x="9921240" y="201168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Text 20"/>
          <p:cNvSpPr/>
          <p:nvPr/>
        </p:nvSpPr>
        <p:spPr>
          <a:xfrm>
            <a:off x="9052560" y="278892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RapidMiner Studio</a:t>
            </a:r>
            <a:endParaRPr lang="en-US" sz="1350" dirty="0"/>
          </a:p>
        </p:txBody>
      </p:sp>
      <p:sp>
        <p:nvSpPr>
          <p:cNvPr id="23" name="Text 21"/>
          <p:cNvSpPr/>
          <p:nvPr/>
        </p:nvSpPr>
        <p:spPr>
          <a:xfrm>
            <a:off x="9052560" y="327355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No-code ML workflows</a:t>
            </a:r>
            <a:endParaRPr lang="en-US" sz="1050" dirty="0"/>
          </a:p>
        </p:txBody>
      </p:sp>
      <p:sp>
        <p:nvSpPr>
          <p:cNvPr id="24" name="Shape 22"/>
          <p:cNvSpPr/>
          <p:nvPr/>
        </p:nvSpPr>
        <p:spPr>
          <a:xfrm>
            <a:off x="548640" y="4069080"/>
            <a:ext cx="2606040" cy="2148840"/>
          </a:xfrm>
          <a:prstGeom prst="roundRect">
            <a:avLst>
              <a:gd name="adj" fmla="val 3404"/>
            </a:avLst>
          </a:prstGeom>
          <a:solidFill>
            <a:srgbClr val="F0F6F6"/>
          </a:solidFill>
          <a:ln/>
        </p:spPr>
      </p:sp>
      <p:sp>
        <p:nvSpPr>
          <p:cNvPr id="25" name="Shape 23"/>
          <p:cNvSpPr/>
          <p:nvPr/>
        </p:nvSpPr>
        <p:spPr>
          <a:xfrm>
            <a:off x="1554480" y="4343400"/>
            <a:ext cx="594360" cy="594360"/>
          </a:xfrm>
          <a:prstGeom prst="ellipse">
            <a:avLst/>
          </a:prstGeom>
          <a:solidFill>
            <a:srgbClr val="FFFFFF"/>
          </a:solidFill>
          <a:ln/>
        </p:spPr>
      </p:sp>
      <p:sp>
        <p:nvSpPr>
          <p:cNvPr id="26" name="Text 24"/>
          <p:cNvSpPr/>
          <p:nvPr/>
        </p:nvSpPr>
        <p:spPr>
          <a:xfrm>
            <a:off x="1554480" y="434340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7" name="Text 25"/>
          <p:cNvSpPr/>
          <p:nvPr/>
        </p:nvSpPr>
        <p:spPr>
          <a:xfrm>
            <a:off x="685800" y="512064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Statistics</a:t>
            </a:r>
            <a:endParaRPr lang="en-US" sz="1350" dirty="0"/>
          </a:p>
        </p:txBody>
      </p:sp>
      <p:sp>
        <p:nvSpPr>
          <p:cNvPr id="28" name="Text 26"/>
          <p:cNvSpPr/>
          <p:nvPr/>
        </p:nvSpPr>
        <p:spPr>
          <a:xfrm>
            <a:off x="685800" y="560527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Hypothesis testing &amp; inference</a:t>
            </a:r>
            <a:endParaRPr lang="en-US" sz="1050" dirty="0"/>
          </a:p>
        </p:txBody>
      </p:sp>
      <p:sp>
        <p:nvSpPr>
          <p:cNvPr id="29" name="Shape 27"/>
          <p:cNvSpPr/>
          <p:nvPr/>
        </p:nvSpPr>
        <p:spPr>
          <a:xfrm>
            <a:off x="3337560" y="4069080"/>
            <a:ext cx="2606040" cy="2148840"/>
          </a:xfrm>
          <a:prstGeom prst="roundRect">
            <a:avLst>
              <a:gd name="adj" fmla="val 3404"/>
            </a:avLst>
          </a:prstGeom>
          <a:solidFill>
            <a:srgbClr val="F0F6F6"/>
          </a:solidFill>
          <a:ln/>
        </p:spPr>
      </p:sp>
      <p:sp>
        <p:nvSpPr>
          <p:cNvPr id="30" name="Shape 28"/>
          <p:cNvSpPr/>
          <p:nvPr/>
        </p:nvSpPr>
        <p:spPr>
          <a:xfrm>
            <a:off x="4343400" y="4343400"/>
            <a:ext cx="594360" cy="594360"/>
          </a:xfrm>
          <a:prstGeom prst="ellipse">
            <a:avLst/>
          </a:prstGeom>
          <a:solidFill>
            <a:srgbClr val="FFFFFF"/>
          </a:solidFill>
          <a:ln/>
        </p:spPr>
      </p:sp>
      <p:sp>
        <p:nvSpPr>
          <p:cNvPr id="31" name="Text 29"/>
          <p:cNvSpPr/>
          <p:nvPr/>
        </p:nvSpPr>
        <p:spPr>
          <a:xfrm>
            <a:off x="4343400" y="434340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Text 30"/>
          <p:cNvSpPr/>
          <p:nvPr/>
        </p:nvSpPr>
        <p:spPr>
          <a:xfrm>
            <a:off x="3474720" y="512064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Scikit-learn</a:t>
            </a:r>
            <a:endParaRPr lang="en-US" sz="1350" dirty="0"/>
          </a:p>
        </p:txBody>
      </p:sp>
      <p:sp>
        <p:nvSpPr>
          <p:cNvPr id="33" name="Text 31"/>
          <p:cNvSpPr/>
          <p:nvPr/>
        </p:nvSpPr>
        <p:spPr>
          <a:xfrm>
            <a:off x="3474720" y="560527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Regression &amp; classification</a:t>
            </a:r>
            <a:endParaRPr lang="en-US" sz="1050" dirty="0"/>
          </a:p>
        </p:txBody>
      </p:sp>
      <p:sp>
        <p:nvSpPr>
          <p:cNvPr id="34" name="Shape 32"/>
          <p:cNvSpPr/>
          <p:nvPr/>
        </p:nvSpPr>
        <p:spPr>
          <a:xfrm>
            <a:off x="6126480" y="4069080"/>
            <a:ext cx="2606040" cy="2148840"/>
          </a:xfrm>
          <a:prstGeom prst="roundRect">
            <a:avLst>
              <a:gd name="adj" fmla="val 3404"/>
            </a:avLst>
          </a:prstGeom>
          <a:solidFill>
            <a:srgbClr val="F0F6F6"/>
          </a:solidFill>
          <a:ln/>
        </p:spPr>
      </p:sp>
      <p:sp>
        <p:nvSpPr>
          <p:cNvPr id="35" name="Shape 33"/>
          <p:cNvSpPr/>
          <p:nvPr/>
        </p:nvSpPr>
        <p:spPr>
          <a:xfrm>
            <a:off x="7132320" y="4343400"/>
            <a:ext cx="594360" cy="594360"/>
          </a:xfrm>
          <a:prstGeom prst="ellipse">
            <a:avLst/>
          </a:prstGeom>
          <a:solidFill>
            <a:srgbClr val="FFFFFF"/>
          </a:solidFill>
          <a:ln/>
        </p:spPr>
      </p:sp>
      <p:sp>
        <p:nvSpPr>
          <p:cNvPr id="36" name="Text 34"/>
          <p:cNvSpPr/>
          <p:nvPr/>
        </p:nvSpPr>
        <p:spPr>
          <a:xfrm>
            <a:off x="7132320" y="434340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7" name="Text 35"/>
          <p:cNvSpPr/>
          <p:nvPr/>
        </p:nvSpPr>
        <p:spPr>
          <a:xfrm>
            <a:off x="6263640" y="512064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Model Tuning</a:t>
            </a:r>
            <a:endParaRPr lang="en-US" sz="1350" dirty="0"/>
          </a:p>
        </p:txBody>
      </p:sp>
      <p:sp>
        <p:nvSpPr>
          <p:cNvPr id="38" name="Text 36"/>
          <p:cNvSpPr/>
          <p:nvPr/>
        </p:nvSpPr>
        <p:spPr>
          <a:xfrm>
            <a:off x="6263640" y="560527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Evaluation &amp; optimization</a:t>
            </a:r>
            <a:endParaRPr lang="en-US" sz="1050" dirty="0"/>
          </a:p>
        </p:txBody>
      </p:sp>
      <p:sp>
        <p:nvSpPr>
          <p:cNvPr id="39" name="Shape 37"/>
          <p:cNvSpPr/>
          <p:nvPr/>
        </p:nvSpPr>
        <p:spPr>
          <a:xfrm>
            <a:off x="8915400" y="4069080"/>
            <a:ext cx="2606040" cy="2148840"/>
          </a:xfrm>
          <a:prstGeom prst="roundRect">
            <a:avLst>
              <a:gd name="adj" fmla="val 3404"/>
            </a:avLst>
          </a:prstGeom>
          <a:solidFill>
            <a:srgbClr val="F0F6F6"/>
          </a:solidFill>
          <a:ln/>
        </p:spPr>
      </p:sp>
      <p:sp>
        <p:nvSpPr>
          <p:cNvPr id="40" name="Shape 38"/>
          <p:cNvSpPr/>
          <p:nvPr/>
        </p:nvSpPr>
        <p:spPr>
          <a:xfrm>
            <a:off x="9921240" y="4343400"/>
            <a:ext cx="594360" cy="594360"/>
          </a:xfrm>
          <a:prstGeom prst="ellipse">
            <a:avLst/>
          </a:prstGeom>
          <a:solidFill>
            <a:srgbClr val="FFFFFF"/>
          </a:solidFill>
          <a:ln/>
        </p:spPr>
      </p:sp>
      <p:sp>
        <p:nvSpPr>
          <p:cNvPr id="41" name="Text 39"/>
          <p:cNvSpPr/>
          <p:nvPr/>
        </p:nvSpPr>
        <p:spPr>
          <a:xfrm>
            <a:off x="9921240" y="434340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2" name="Text 40"/>
          <p:cNvSpPr/>
          <p:nvPr/>
        </p:nvSpPr>
        <p:spPr>
          <a:xfrm>
            <a:off x="9052560" y="512064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Capstone Project</a:t>
            </a:r>
            <a:endParaRPr lang="en-US" sz="1350" dirty="0"/>
          </a:p>
        </p:txBody>
      </p:sp>
      <p:sp>
        <p:nvSpPr>
          <p:cNvPr id="43" name="Text 41"/>
          <p:cNvSpPr/>
          <p:nvPr/>
        </p:nvSpPr>
        <p:spPr>
          <a:xfrm>
            <a:off x="9052560" y="560527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End-to-end case study</a:t>
            </a:r>
            <a:endParaRPr lang="en-US" sz="1050" dirty="0"/>
          </a:p>
        </p:txBody>
      </p:sp>
      <p:sp>
        <p:nvSpPr>
          <p:cNvPr id="44" name="Text 4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Tannu Kumari</a:t>
            </a:r>
            <a:endParaRPr lang="en-US" sz="1000" dirty="0"/>
          </a:p>
        </p:txBody>
      </p:sp>
      <p:sp>
        <p:nvSpPr>
          <p:cNvPr id="45" name="Text 43"/>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323D"/>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200" kern="0" dirty="0">
                <a:solidFill>
                  <a:srgbClr val="F2B441"/>
                </a:solidFill>
                <a:latin typeface="Calibri" pitchFamily="34" charset="0"/>
                <a:ea typeface="Calibri" pitchFamily="34" charset="-122"/>
                <a:cs typeface="Calibri" pitchFamily="34" charset="-120"/>
              </a:rPr>
              <a:t>DATA SCIENCE PIPELINE</a:t>
            </a:r>
            <a:endParaRPr lang="en-US" sz="1200" dirty="0"/>
          </a:p>
        </p:txBody>
      </p:sp>
      <p:sp>
        <p:nvSpPr>
          <p:cNvPr id="3" name="Text 1"/>
          <p:cNvSpPr/>
          <p:nvPr/>
        </p:nvSpPr>
        <p:spPr>
          <a:xfrm>
            <a:off x="548640" y="82296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Raw Data to Actionable Insight</a:t>
            </a:r>
            <a:endParaRPr lang="en-US" sz="3200" dirty="0"/>
          </a:p>
        </p:txBody>
      </p:sp>
      <p:sp>
        <p:nvSpPr>
          <p:cNvPr id="4" name="Shape 2"/>
          <p:cNvSpPr/>
          <p:nvPr/>
        </p:nvSpPr>
        <p:spPr>
          <a:xfrm>
            <a:off x="548640" y="1691640"/>
            <a:ext cx="11064240" cy="603504"/>
          </a:xfrm>
          <a:prstGeom prst="roundRect">
            <a:avLst>
              <a:gd name="adj" fmla="val 7576"/>
            </a:avLst>
          </a:prstGeom>
          <a:solidFill>
            <a:srgbClr val="1F4650"/>
          </a:solidFill>
          <a:ln/>
        </p:spPr>
      </p:sp>
      <p:sp>
        <p:nvSpPr>
          <p:cNvPr id="5" name="Shape 3"/>
          <p:cNvSpPr/>
          <p:nvPr/>
        </p:nvSpPr>
        <p:spPr>
          <a:xfrm>
            <a:off x="777240" y="1764792"/>
            <a:ext cx="457200" cy="457200"/>
          </a:xfrm>
          <a:prstGeom prst="ellipse">
            <a:avLst/>
          </a:prstGeom>
          <a:solidFill>
            <a:srgbClr val="FFFFFF"/>
          </a:solidFill>
          <a:ln/>
        </p:spPr>
      </p:sp>
      <p:sp>
        <p:nvSpPr>
          <p:cNvPr id="6" name="Text 4"/>
          <p:cNvSpPr/>
          <p:nvPr/>
        </p:nvSpPr>
        <p:spPr>
          <a:xfrm>
            <a:off x="777240" y="1764792"/>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7" name="Text 5"/>
          <p:cNvSpPr/>
          <p:nvPr/>
        </p:nvSpPr>
        <p:spPr>
          <a:xfrm>
            <a:off x="1417320" y="1691640"/>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 Collection Layer</a:t>
            </a:r>
            <a:endParaRPr lang="en-US" sz="1400" dirty="0"/>
          </a:p>
        </p:txBody>
      </p:sp>
      <p:sp>
        <p:nvSpPr>
          <p:cNvPr id="8" name="Text 6"/>
          <p:cNvSpPr/>
          <p:nvPr/>
        </p:nvSpPr>
        <p:spPr>
          <a:xfrm>
            <a:off x="4937760" y="1691640"/>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Raw structured &amp; unstructured datasets gathered</a:t>
            </a:r>
            <a:endParaRPr lang="en-US" sz="1250" dirty="0"/>
          </a:p>
        </p:txBody>
      </p:sp>
      <p:sp>
        <p:nvSpPr>
          <p:cNvPr id="9" name="Text 7"/>
          <p:cNvSpPr/>
          <p:nvPr/>
        </p:nvSpPr>
        <p:spPr>
          <a:xfrm>
            <a:off x="685800" y="2276856"/>
            <a:ext cx="274320" cy="146304"/>
          </a:xfrm>
          <a:prstGeom prst="rect">
            <a:avLst/>
          </a:prstGeom>
          <a:noFill/>
          <a:ln/>
        </p:spPr>
        <p:txBody>
          <a:bodyPr wrap="square" lIns="0" tIns="0" rIns="0" bIns="0" rtlCol="0" anchor="ctr"/>
          <a:lstStyle/>
          <a:p>
            <a:pPr algn="ctr" indent="0" marL="0">
              <a:buNone/>
            </a:pPr>
            <a:r>
              <a:rPr lang="en-US" sz="1000" dirty="0">
                <a:solidFill>
                  <a:srgbClr val="F2B441"/>
                </a:solidFill>
              </a:rPr>
              <a:t>↓</a:t>
            </a:r>
            <a:endParaRPr lang="en-US" sz="1000" dirty="0"/>
          </a:p>
        </p:txBody>
      </p:sp>
      <p:sp>
        <p:nvSpPr>
          <p:cNvPr id="10" name="Shape 8"/>
          <p:cNvSpPr/>
          <p:nvPr/>
        </p:nvSpPr>
        <p:spPr>
          <a:xfrm>
            <a:off x="548640" y="2404872"/>
            <a:ext cx="11064240" cy="603504"/>
          </a:xfrm>
          <a:prstGeom prst="roundRect">
            <a:avLst>
              <a:gd name="adj" fmla="val 7576"/>
            </a:avLst>
          </a:prstGeom>
          <a:solidFill>
            <a:srgbClr val="23545E"/>
          </a:solidFill>
          <a:ln/>
        </p:spPr>
      </p:sp>
      <p:sp>
        <p:nvSpPr>
          <p:cNvPr id="11" name="Shape 9"/>
          <p:cNvSpPr/>
          <p:nvPr/>
        </p:nvSpPr>
        <p:spPr>
          <a:xfrm>
            <a:off x="777240" y="2478024"/>
            <a:ext cx="457200" cy="457200"/>
          </a:xfrm>
          <a:prstGeom prst="ellipse">
            <a:avLst/>
          </a:prstGeom>
          <a:solidFill>
            <a:srgbClr val="FFFFFF"/>
          </a:solidFill>
          <a:ln/>
        </p:spPr>
      </p:sp>
      <p:sp>
        <p:nvSpPr>
          <p:cNvPr id="12" name="Text 10"/>
          <p:cNvSpPr/>
          <p:nvPr/>
        </p:nvSpPr>
        <p:spPr>
          <a:xfrm>
            <a:off x="777240" y="2478024"/>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13" name="Text 11"/>
          <p:cNvSpPr/>
          <p:nvPr/>
        </p:nvSpPr>
        <p:spPr>
          <a:xfrm>
            <a:off x="1417320" y="2404872"/>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Cleaning &amp; Preprocessing</a:t>
            </a:r>
            <a:endParaRPr lang="en-US" sz="1400" dirty="0"/>
          </a:p>
        </p:txBody>
      </p:sp>
      <p:sp>
        <p:nvSpPr>
          <p:cNvPr id="14" name="Text 12"/>
          <p:cNvSpPr/>
          <p:nvPr/>
        </p:nvSpPr>
        <p:spPr>
          <a:xfrm>
            <a:off x="4937760" y="2404872"/>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Missing values, outliers and formatting handled</a:t>
            </a:r>
            <a:endParaRPr lang="en-US" sz="1250" dirty="0"/>
          </a:p>
        </p:txBody>
      </p:sp>
      <p:sp>
        <p:nvSpPr>
          <p:cNvPr id="15" name="Text 13"/>
          <p:cNvSpPr/>
          <p:nvPr/>
        </p:nvSpPr>
        <p:spPr>
          <a:xfrm>
            <a:off x="685800" y="2990088"/>
            <a:ext cx="274320" cy="146304"/>
          </a:xfrm>
          <a:prstGeom prst="rect">
            <a:avLst/>
          </a:prstGeom>
          <a:noFill/>
          <a:ln/>
        </p:spPr>
        <p:txBody>
          <a:bodyPr wrap="square" lIns="0" tIns="0" rIns="0" bIns="0" rtlCol="0" anchor="ctr"/>
          <a:lstStyle/>
          <a:p>
            <a:pPr algn="ctr" indent="0" marL="0">
              <a:buNone/>
            </a:pPr>
            <a:r>
              <a:rPr lang="en-US" sz="1000" dirty="0">
                <a:solidFill>
                  <a:srgbClr val="F2B441"/>
                </a:solidFill>
              </a:rPr>
              <a:t>↓</a:t>
            </a:r>
            <a:endParaRPr lang="en-US" sz="1000" dirty="0"/>
          </a:p>
        </p:txBody>
      </p:sp>
      <p:sp>
        <p:nvSpPr>
          <p:cNvPr id="16" name="Shape 14"/>
          <p:cNvSpPr/>
          <p:nvPr/>
        </p:nvSpPr>
        <p:spPr>
          <a:xfrm>
            <a:off x="548640" y="3118104"/>
            <a:ext cx="11064240" cy="603504"/>
          </a:xfrm>
          <a:prstGeom prst="roundRect">
            <a:avLst>
              <a:gd name="adj" fmla="val 7576"/>
            </a:avLst>
          </a:prstGeom>
          <a:solidFill>
            <a:srgbClr val="1F4650"/>
          </a:solidFill>
          <a:ln/>
        </p:spPr>
      </p:sp>
      <p:sp>
        <p:nvSpPr>
          <p:cNvPr id="17" name="Shape 15"/>
          <p:cNvSpPr/>
          <p:nvPr/>
        </p:nvSpPr>
        <p:spPr>
          <a:xfrm>
            <a:off x="777240" y="3191256"/>
            <a:ext cx="457200" cy="457200"/>
          </a:xfrm>
          <a:prstGeom prst="ellipse">
            <a:avLst/>
          </a:prstGeom>
          <a:solidFill>
            <a:srgbClr val="FFFFFF"/>
          </a:solidFill>
          <a:ln/>
        </p:spPr>
      </p:sp>
      <p:sp>
        <p:nvSpPr>
          <p:cNvPr id="18" name="Text 16"/>
          <p:cNvSpPr/>
          <p:nvPr/>
        </p:nvSpPr>
        <p:spPr>
          <a:xfrm>
            <a:off x="777240" y="3191256"/>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19" name="Text 17"/>
          <p:cNvSpPr/>
          <p:nvPr/>
        </p:nvSpPr>
        <p:spPr>
          <a:xfrm>
            <a:off x="1417320" y="3118104"/>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Exploratory Analysis Layer</a:t>
            </a:r>
            <a:endParaRPr lang="en-US" sz="1400" dirty="0"/>
          </a:p>
        </p:txBody>
      </p:sp>
      <p:sp>
        <p:nvSpPr>
          <p:cNvPr id="20" name="Text 18"/>
          <p:cNvSpPr/>
          <p:nvPr/>
        </p:nvSpPr>
        <p:spPr>
          <a:xfrm>
            <a:off x="4937760" y="3118104"/>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Statistical summaries &amp; visual pattern discovery</a:t>
            </a:r>
            <a:endParaRPr lang="en-US" sz="1250" dirty="0"/>
          </a:p>
        </p:txBody>
      </p:sp>
      <p:sp>
        <p:nvSpPr>
          <p:cNvPr id="21" name="Text 19"/>
          <p:cNvSpPr/>
          <p:nvPr/>
        </p:nvSpPr>
        <p:spPr>
          <a:xfrm>
            <a:off x="685800" y="3703320"/>
            <a:ext cx="274320" cy="146304"/>
          </a:xfrm>
          <a:prstGeom prst="rect">
            <a:avLst/>
          </a:prstGeom>
          <a:noFill/>
          <a:ln/>
        </p:spPr>
        <p:txBody>
          <a:bodyPr wrap="square" lIns="0" tIns="0" rIns="0" bIns="0" rtlCol="0" anchor="ctr"/>
          <a:lstStyle/>
          <a:p>
            <a:pPr algn="ctr" indent="0" marL="0">
              <a:buNone/>
            </a:pPr>
            <a:r>
              <a:rPr lang="en-US" sz="1000" dirty="0">
                <a:solidFill>
                  <a:srgbClr val="F2B441"/>
                </a:solidFill>
              </a:rPr>
              <a:t>↓</a:t>
            </a:r>
            <a:endParaRPr lang="en-US" sz="1000" dirty="0"/>
          </a:p>
        </p:txBody>
      </p:sp>
      <p:sp>
        <p:nvSpPr>
          <p:cNvPr id="22" name="Shape 20"/>
          <p:cNvSpPr/>
          <p:nvPr/>
        </p:nvSpPr>
        <p:spPr>
          <a:xfrm>
            <a:off x="548640" y="3831336"/>
            <a:ext cx="11064240" cy="603504"/>
          </a:xfrm>
          <a:prstGeom prst="roundRect">
            <a:avLst>
              <a:gd name="adj" fmla="val 7576"/>
            </a:avLst>
          </a:prstGeom>
          <a:solidFill>
            <a:srgbClr val="23545E"/>
          </a:solidFill>
          <a:ln/>
        </p:spPr>
      </p:sp>
      <p:sp>
        <p:nvSpPr>
          <p:cNvPr id="23" name="Shape 21"/>
          <p:cNvSpPr/>
          <p:nvPr/>
        </p:nvSpPr>
        <p:spPr>
          <a:xfrm>
            <a:off x="777240" y="3904488"/>
            <a:ext cx="457200" cy="457200"/>
          </a:xfrm>
          <a:prstGeom prst="ellipse">
            <a:avLst/>
          </a:prstGeom>
          <a:solidFill>
            <a:srgbClr val="FFFFFF"/>
          </a:solidFill>
          <a:ln/>
        </p:spPr>
      </p:sp>
      <p:sp>
        <p:nvSpPr>
          <p:cNvPr id="24" name="Text 22"/>
          <p:cNvSpPr/>
          <p:nvPr/>
        </p:nvSpPr>
        <p:spPr>
          <a:xfrm>
            <a:off x="777240" y="3904488"/>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25" name="Text 23"/>
          <p:cNvSpPr/>
          <p:nvPr/>
        </p:nvSpPr>
        <p:spPr>
          <a:xfrm>
            <a:off x="1417320" y="3831336"/>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Model Building Layer</a:t>
            </a:r>
            <a:endParaRPr lang="en-US" sz="1400" dirty="0"/>
          </a:p>
        </p:txBody>
      </p:sp>
      <p:sp>
        <p:nvSpPr>
          <p:cNvPr id="26" name="Text 24"/>
          <p:cNvSpPr/>
          <p:nvPr/>
        </p:nvSpPr>
        <p:spPr>
          <a:xfrm>
            <a:off x="4937760" y="3831336"/>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Regression &amp; classification models trained</a:t>
            </a:r>
            <a:endParaRPr lang="en-US" sz="1250" dirty="0"/>
          </a:p>
        </p:txBody>
      </p:sp>
      <p:sp>
        <p:nvSpPr>
          <p:cNvPr id="27" name="Text 25"/>
          <p:cNvSpPr/>
          <p:nvPr/>
        </p:nvSpPr>
        <p:spPr>
          <a:xfrm>
            <a:off x="685800" y="4416552"/>
            <a:ext cx="274320" cy="146304"/>
          </a:xfrm>
          <a:prstGeom prst="rect">
            <a:avLst/>
          </a:prstGeom>
          <a:noFill/>
          <a:ln/>
        </p:spPr>
        <p:txBody>
          <a:bodyPr wrap="square" lIns="0" tIns="0" rIns="0" bIns="0" rtlCol="0" anchor="ctr"/>
          <a:lstStyle/>
          <a:p>
            <a:pPr algn="ctr" indent="0" marL="0">
              <a:buNone/>
            </a:pPr>
            <a:r>
              <a:rPr lang="en-US" sz="1000" dirty="0">
                <a:solidFill>
                  <a:srgbClr val="F2B441"/>
                </a:solidFill>
              </a:rPr>
              <a:t>↓</a:t>
            </a:r>
            <a:endParaRPr lang="en-US" sz="1000" dirty="0"/>
          </a:p>
        </p:txBody>
      </p:sp>
      <p:sp>
        <p:nvSpPr>
          <p:cNvPr id="28" name="Shape 26"/>
          <p:cNvSpPr/>
          <p:nvPr/>
        </p:nvSpPr>
        <p:spPr>
          <a:xfrm>
            <a:off x="548640" y="4544568"/>
            <a:ext cx="11064240" cy="603504"/>
          </a:xfrm>
          <a:prstGeom prst="roundRect">
            <a:avLst>
              <a:gd name="adj" fmla="val 7576"/>
            </a:avLst>
          </a:prstGeom>
          <a:solidFill>
            <a:srgbClr val="1F4650"/>
          </a:solidFill>
          <a:ln/>
        </p:spPr>
      </p:sp>
      <p:sp>
        <p:nvSpPr>
          <p:cNvPr id="29" name="Shape 27"/>
          <p:cNvSpPr/>
          <p:nvPr/>
        </p:nvSpPr>
        <p:spPr>
          <a:xfrm>
            <a:off x="777240" y="4617720"/>
            <a:ext cx="457200" cy="457200"/>
          </a:xfrm>
          <a:prstGeom prst="ellipse">
            <a:avLst/>
          </a:prstGeom>
          <a:solidFill>
            <a:srgbClr val="FFFFFF"/>
          </a:solidFill>
          <a:ln/>
        </p:spPr>
      </p:sp>
      <p:sp>
        <p:nvSpPr>
          <p:cNvPr id="30" name="Text 28"/>
          <p:cNvSpPr/>
          <p:nvPr/>
        </p:nvSpPr>
        <p:spPr>
          <a:xfrm>
            <a:off x="777240" y="4617720"/>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31" name="Text 29"/>
          <p:cNvSpPr/>
          <p:nvPr/>
        </p:nvSpPr>
        <p:spPr>
          <a:xfrm>
            <a:off x="1417320" y="4544568"/>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Evaluation &amp; Tuning Layer</a:t>
            </a:r>
            <a:endParaRPr lang="en-US" sz="1400" dirty="0"/>
          </a:p>
        </p:txBody>
      </p:sp>
      <p:sp>
        <p:nvSpPr>
          <p:cNvPr id="32" name="Text 30"/>
          <p:cNvSpPr/>
          <p:nvPr/>
        </p:nvSpPr>
        <p:spPr>
          <a:xfrm>
            <a:off x="4937760" y="4544568"/>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Metrics compared; hyperparameters optimized</a:t>
            </a:r>
            <a:endParaRPr lang="en-US" sz="1250" dirty="0"/>
          </a:p>
        </p:txBody>
      </p:sp>
      <p:sp>
        <p:nvSpPr>
          <p:cNvPr id="33" name="Text 31"/>
          <p:cNvSpPr/>
          <p:nvPr/>
        </p:nvSpPr>
        <p:spPr>
          <a:xfrm>
            <a:off x="685800" y="5129784"/>
            <a:ext cx="274320" cy="146304"/>
          </a:xfrm>
          <a:prstGeom prst="rect">
            <a:avLst/>
          </a:prstGeom>
          <a:noFill/>
          <a:ln/>
        </p:spPr>
        <p:txBody>
          <a:bodyPr wrap="square" lIns="0" tIns="0" rIns="0" bIns="0" rtlCol="0" anchor="ctr"/>
          <a:lstStyle/>
          <a:p>
            <a:pPr algn="ctr" indent="0" marL="0">
              <a:buNone/>
            </a:pPr>
            <a:r>
              <a:rPr lang="en-US" sz="1000" dirty="0">
                <a:solidFill>
                  <a:srgbClr val="F2B441"/>
                </a:solidFill>
              </a:rPr>
              <a:t>↓</a:t>
            </a:r>
            <a:endParaRPr lang="en-US" sz="1000" dirty="0"/>
          </a:p>
        </p:txBody>
      </p:sp>
      <p:sp>
        <p:nvSpPr>
          <p:cNvPr id="34" name="Shape 32"/>
          <p:cNvSpPr/>
          <p:nvPr/>
        </p:nvSpPr>
        <p:spPr>
          <a:xfrm>
            <a:off x="548640" y="5257800"/>
            <a:ext cx="11064240" cy="603504"/>
          </a:xfrm>
          <a:prstGeom prst="roundRect">
            <a:avLst>
              <a:gd name="adj" fmla="val 7576"/>
            </a:avLst>
          </a:prstGeom>
          <a:solidFill>
            <a:srgbClr val="23545E"/>
          </a:solidFill>
          <a:ln/>
        </p:spPr>
      </p:sp>
      <p:sp>
        <p:nvSpPr>
          <p:cNvPr id="35" name="Shape 33"/>
          <p:cNvSpPr/>
          <p:nvPr/>
        </p:nvSpPr>
        <p:spPr>
          <a:xfrm>
            <a:off x="777240" y="5330952"/>
            <a:ext cx="457200" cy="457200"/>
          </a:xfrm>
          <a:prstGeom prst="ellipse">
            <a:avLst/>
          </a:prstGeom>
          <a:solidFill>
            <a:srgbClr val="FFFFFF"/>
          </a:solidFill>
          <a:ln/>
        </p:spPr>
      </p:sp>
      <p:sp>
        <p:nvSpPr>
          <p:cNvPr id="36" name="Text 34"/>
          <p:cNvSpPr/>
          <p:nvPr/>
        </p:nvSpPr>
        <p:spPr>
          <a:xfrm>
            <a:off x="777240" y="5330952"/>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37" name="Text 35"/>
          <p:cNvSpPr/>
          <p:nvPr/>
        </p:nvSpPr>
        <p:spPr>
          <a:xfrm>
            <a:off x="1417320" y="5257800"/>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Insight &amp; Reporting Layer</a:t>
            </a:r>
            <a:endParaRPr lang="en-US" sz="1400" dirty="0"/>
          </a:p>
        </p:txBody>
      </p:sp>
      <p:sp>
        <p:nvSpPr>
          <p:cNvPr id="38" name="Text 36"/>
          <p:cNvSpPr/>
          <p:nvPr/>
        </p:nvSpPr>
        <p:spPr>
          <a:xfrm>
            <a:off x="4937760" y="5257800"/>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Findings visualized and delivered as a capstone</a:t>
            </a:r>
            <a:endParaRPr lang="en-US" sz="1250" dirty="0"/>
          </a:p>
        </p:txBody>
      </p:sp>
      <p:sp>
        <p:nvSpPr>
          <p:cNvPr id="39" name="Text 37"/>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9FB8BC"/>
                </a:solidFill>
                <a:latin typeface="Calibri" pitchFamily="34" charset="0"/>
                <a:ea typeface="Calibri" pitchFamily="34" charset="-122"/>
                <a:cs typeface="Calibri" pitchFamily="34" charset="-120"/>
              </a:rPr>
              <a:t>Data Science Master Virtual Internship  •  Tannu Kumari</a:t>
            </a:r>
            <a:endParaRPr lang="en-US" sz="1000" dirty="0"/>
          </a:p>
        </p:txBody>
      </p:sp>
      <p:sp>
        <p:nvSpPr>
          <p:cNvPr id="40" name="Text 38"/>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9FB8BC"/>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6"/>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777240"/>
            <a:ext cx="10972800" cy="59436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The 8-Week Learning Journey</a:t>
            </a:r>
            <a:endParaRPr lang="en-US" sz="3200" dirty="0"/>
          </a:p>
        </p:txBody>
      </p:sp>
      <p:sp>
        <p:nvSpPr>
          <p:cNvPr id="4" name="Shape 2"/>
          <p:cNvSpPr/>
          <p:nvPr/>
        </p:nvSpPr>
        <p:spPr>
          <a:xfrm>
            <a:off x="548640" y="160020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5" name="Shape 3"/>
          <p:cNvSpPr/>
          <p:nvPr/>
        </p:nvSpPr>
        <p:spPr>
          <a:xfrm>
            <a:off x="777240" y="1828800"/>
            <a:ext cx="502920" cy="502920"/>
          </a:xfrm>
          <a:prstGeom prst="ellipse">
            <a:avLst/>
          </a:prstGeom>
          <a:solidFill>
            <a:srgbClr val="028090"/>
          </a:solidFill>
          <a:ln/>
        </p:spPr>
      </p:sp>
      <p:sp>
        <p:nvSpPr>
          <p:cNvPr id="6" name="Text 4"/>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371600" y="190195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8" name="Text 6"/>
          <p:cNvSpPr/>
          <p:nvPr/>
        </p:nvSpPr>
        <p:spPr>
          <a:xfrm>
            <a:off x="777240" y="251460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Foundations &amp; Statistics</a:t>
            </a:r>
            <a:endParaRPr lang="en-US" sz="1300" dirty="0"/>
          </a:p>
        </p:txBody>
      </p:sp>
      <p:sp>
        <p:nvSpPr>
          <p:cNvPr id="9" name="Text 7"/>
          <p:cNvSpPr/>
          <p:nvPr/>
        </p:nvSpPr>
        <p:spPr>
          <a:xfrm>
            <a:off x="777240" y="310896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Core statistics and data science principles</a:t>
            </a:r>
            <a:endParaRPr lang="en-US" sz="1000" dirty="0"/>
          </a:p>
        </p:txBody>
      </p:sp>
      <p:sp>
        <p:nvSpPr>
          <p:cNvPr id="10" name="Shape 8"/>
          <p:cNvSpPr/>
          <p:nvPr/>
        </p:nvSpPr>
        <p:spPr>
          <a:xfrm>
            <a:off x="3337560" y="160020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11" name="Shape 9"/>
          <p:cNvSpPr/>
          <p:nvPr/>
        </p:nvSpPr>
        <p:spPr>
          <a:xfrm>
            <a:off x="3566160" y="1828800"/>
            <a:ext cx="502920" cy="502920"/>
          </a:xfrm>
          <a:prstGeom prst="ellipse">
            <a:avLst/>
          </a:prstGeom>
          <a:solidFill>
            <a:srgbClr val="028090"/>
          </a:solidFill>
          <a:ln/>
        </p:spPr>
      </p:sp>
      <p:sp>
        <p:nvSpPr>
          <p:cNvPr id="12" name="Text 10"/>
          <p:cNvSpPr/>
          <p:nvPr/>
        </p:nvSpPr>
        <p:spPr>
          <a:xfrm>
            <a:off x="356616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160520" y="190195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14" name="Text 12"/>
          <p:cNvSpPr/>
          <p:nvPr/>
        </p:nvSpPr>
        <p:spPr>
          <a:xfrm>
            <a:off x="3566160" y="251460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Data Wrangling</a:t>
            </a:r>
            <a:endParaRPr lang="en-US" sz="1300" dirty="0"/>
          </a:p>
        </p:txBody>
      </p:sp>
      <p:sp>
        <p:nvSpPr>
          <p:cNvPr id="15" name="Text 13"/>
          <p:cNvSpPr/>
          <p:nvPr/>
        </p:nvSpPr>
        <p:spPr>
          <a:xfrm>
            <a:off x="3566160" y="310896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Cleaning &amp; transforming data with Python</a:t>
            </a:r>
            <a:endParaRPr lang="en-US" sz="1000" dirty="0"/>
          </a:p>
        </p:txBody>
      </p:sp>
      <p:sp>
        <p:nvSpPr>
          <p:cNvPr id="16" name="Shape 14"/>
          <p:cNvSpPr/>
          <p:nvPr/>
        </p:nvSpPr>
        <p:spPr>
          <a:xfrm>
            <a:off x="6126480" y="160020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17" name="Shape 15"/>
          <p:cNvSpPr/>
          <p:nvPr/>
        </p:nvSpPr>
        <p:spPr>
          <a:xfrm>
            <a:off x="6355080" y="1828800"/>
            <a:ext cx="502920" cy="502920"/>
          </a:xfrm>
          <a:prstGeom prst="ellipse">
            <a:avLst/>
          </a:prstGeom>
          <a:solidFill>
            <a:srgbClr val="028090"/>
          </a:solidFill>
          <a:ln/>
        </p:spPr>
      </p:sp>
      <p:sp>
        <p:nvSpPr>
          <p:cNvPr id="18" name="Text 16"/>
          <p:cNvSpPr/>
          <p:nvPr/>
        </p:nvSpPr>
        <p:spPr>
          <a:xfrm>
            <a:off x="635508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6949440" y="190195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20" name="Text 18"/>
          <p:cNvSpPr/>
          <p:nvPr/>
        </p:nvSpPr>
        <p:spPr>
          <a:xfrm>
            <a:off x="6355080" y="251460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Exploratory Data Analysis</a:t>
            </a:r>
            <a:endParaRPr lang="en-US" sz="1300" dirty="0"/>
          </a:p>
        </p:txBody>
      </p:sp>
      <p:sp>
        <p:nvSpPr>
          <p:cNvPr id="21" name="Text 19"/>
          <p:cNvSpPr/>
          <p:nvPr/>
        </p:nvSpPr>
        <p:spPr>
          <a:xfrm>
            <a:off x="6355080" y="310896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Visual &amp; statistical pattern discovery</a:t>
            </a:r>
            <a:endParaRPr lang="en-US" sz="1000" dirty="0"/>
          </a:p>
        </p:txBody>
      </p:sp>
      <p:sp>
        <p:nvSpPr>
          <p:cNvPr id="22" name="Shape 20"/>
          <p:cNvSpPr/>
          <p:nvPr/>
        </p:nvSpPr>
        <p:spPr>
          <a:xfrm>
            <a:off x="8915400" y="160020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23" name="Shape 21"/>
          <p:cNvSpPr/>
          <p:nvPr/>
        </p:nvSpPr>
        <p:spPr>
          <a:xfrm>
            <a:off x="9144000" y="1828800"/>
            <a:ext cx="502920" cy="502920"/>
          </a:xfrm>
          <a:prstGeom prst="ellipse">
            <a:avLst/>
          </a:prstGeom>
          <a:solidFill>
            <a:srgbClr val="028090"/>
          </a:solidFill>
          <a:ln/>
        </p:spPr>
      </p:sp>
      <p:sp>
        <p:nvSpPr>
          <p:cNvPr id="24" name="Text 22"/>
          <p:cNvSpPr/>
          <p:nvPr/>
        </p:nvSpPr>
        <p:spPr>
          <a:xfrm>
            <a:off x="914400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9738360" y="190195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26" name="Text 24"/>
          <p:cNvSpPr/>
          <p:nvPr/>
        </p:nvSpPr>
        <p:spPr>
          <a:xfrm>
            <a:off x="9144000" y="251460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No-Code ML with RapidMiner</a:t>
            </a:r>
            <a:endParaRPr lang="en-US" sz="1300" dirty="0"/>
          </a:p>
        </p:txBody>
      </p:sp>
      <p:sp>
        <p:nvSpPr>
          <p:cNvPr id="27" name="Text 25"/>
          <p:cNvSpPr/>
          <p:nvPr/>
        </p:nvSpPr>
        <p:spPr>
          <a:xfrm>
            <a:off x="9144000" y="310896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Building workflows on RapidMiner Studio</a:t>
            </a:r>
            <a:endParaRPr lang="en-US" sz="1000" dirty="0"/>
          </a:p>
        </p:txBody>
      </p:sp>
      <p:sp>
        <p:nvSpPr>
          <p:cNvPr id="28" name="Shape 26"/>
          <p:cNvSpPr/>
          <p:nvPr/>
        </p:nvSpPr>
        <p:spPr>
          <a:xfrm>
            <a:off x="548640" y="397764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29" name="Shape 27"/>
          <p:cNvSpPr/>
          <p:nvPr/>
        </p:nvSpPr>
        <p:spPr>
          <a:xfrm>
            <a:off x="777240" y="4206240"/>
            <a:ext cx="502920" cy="502920"/>
          </a:xfrm>
          <a:prstGeom prst="ellipse">
            <a:avLst/>
          </a:prstGeom>
          <a:solidFill>
            <a:srgbClr val="028090"/>
          </a:solidFill>
          <a:ln/>
        </p:spPr>
      </p:sp>
      <p:sp>
        <p:nvSpPr>
          <p:cNvPr id="30" name="Text 28"/>
          <p:cNvSpPr/>
          <p:nvPr/>
        </p:nvSpPr>
        <p:spPr>
          <a:xfrm>
            <a:off x="777240" y="4206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p:nvPr/>
        </p:nvSpPr>
        <p:spPr>
          <a:xfrm>
            <a:off x="1371600" y="427939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32" name="Text 30"/>
          <p:cNvSpPr/>
          <p:nvPr/>
        </p:nvSpPr>
        <p:spPr>
          <a:xfrm>
            <a:off x="777240" y="489204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Regression Models</a:t>
            </a:r>
            <a:endParaRPr lang="en-US" sz="1300" dirty="0"/>
          </a:p>
        </p:txBody>
      </p:sp>
      <p:sp>
        <p:nvSpPr>
          <p:cNvPr id="33" name="Text 31"/>
          <p:cNvSpPr/>
          <p:nvPr/>
        </p:nvSpPr>
        <p:spPr>
          <a:xfrm>
            <a:off x="777240" y="548640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Predicting continuous outcomes</a:t>
            </a:r>
            <a:endParaRPr lang="en-US" sz="1000" dirty="0"/>
          </a:p>
        </p:txBody>
      </p:sp>
      <p:sp>
        <p:nvSpPr>
          <p:cNvPr id="34" name="Shape 32"/>
          <p:cNvSpPr/>
          <p:nvPr/>
        </p:nvSpPr>
        <p:spPr>
          <a:xfrm>
            <a:off x="3337560" y="397764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35" name="Shape 33"/>
          <p:cNvSpPr/>
          <p:nvPr/>
        </p:nvSpPr>
        <p:spPr>
          <a:xfrm>
            <a:off x="3566160" y="4206240"/>
            <a:ext cx="502920" cy="502920"/>
          </a:xfrm>
          <a:prstGeom prst="ellipse">
            <a:avLst/>
          </a:prstGeom>
          <a:solidFill>
            <a:srgbClr val="028090"/>
          </a:solidFill>
          <a:ln/>
        </p:spPr>
      </p:sp>
      <p:sp>
        <p:nvSpPr>
          <p:cNvPr id="36" name="Text 34"/>
          <p:cNvSpPr/>
          <p:nvPr/>
        </p:nvSpPr>
        <p:spPr>
          <a:xfrm>
            <a:off x="3566160" y="4206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7" name="Text 35"/>
          <p:cNvSpPr/>
          <p:nvPr/>
        </p:nvSpPr>
        <p:spPr>
          <a:xfrm>
            <a:off x="4160520" y="427939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38" name="Text 36"/>
          <p:cNvSpPr/>
          <p:nvPr/>
        </p:nvSpPr>
        <p:spPr>
          <a:xfrm>
            <a:off x="3566160" y="489204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Classification Models</a:t>
            </a:r>
            <a:endParaRPr lang="en-US" sz="1300" dirty="0"/>
          </a:p>
        </p:txBody>
      </p:sp>
      <p:sp>
        <p:nvSpPr>
          <p:cNvPr id="39" name="Text 37"/>
          <p:cNvSpPr/>
          <p:nvPr/>
        </p:nvSpPr>
        <p:spPr>
          <a:xfrm>
            <a:off x="3566160" y="548640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Predicting categorical outcomes</a:t>
            </a:r>
            <a:endParaRPr lang="en-US" sz="1000" dirty="0"/>
          </a:p>
        </p:txBody>
      </p:sp>
      <p:sp>
        <p:nvSpPr>
          <p:cNvPr id="40" name="Shape 38"/>
          <p:cNvSpPr/>
          <p:nvPr/>
        </p:nvSpPr>
        <p:spPr>
          <a:xfrm>
            <a:off x="6126480" y="397764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41" name="Shape 39"/>
          <p:cNvSpPr/>
          <p:nvPr/>
        </p:nvSpPr>
        <p:spPr>
          <a:xfrm>
            <a:off x="6355080" y="4206240"/>
            <a:ext cx="502920" cy="502920"/>
          </a:xfrm>
          <a:prstGeom prst="ellipse">
            <a:avLst/>
          </a:prstGeom>
          <a:solidFill>
            <a:srgbClr val="028090"/>
          </a:solidFill>
          <a:ln/>
        </p:spPr>
      </p:sp>
      <p:sp>
        <p:nvSpPr>
          <p:cNvPr id="42" name="Text 40"/>
          <p:cNvSpPr/>
          <p:nvPr/>
        </p:nvSpPr>
        <p:spPr>
          <a:xfrm>
            <a:off x="6355080" y="4206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3" name="Text 41"/>
          <p:cNvSpPr/>
          <p:nvPr/>
        </p:nvSpPr>
        <p:spPr>
          <a:xfrm>
            <a:off x="6949440" y="427939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44" name="Text 42"/>
          <p:cNvSpPr/>
          <p:nvPr/>
        </p:nvSpPr>
        <p:spPr>
          <a:xfrm>
            <a:off x="6355080" y="489204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Evaluation &amp; Tuning</a:t>
            </a:r>
            <a:endParaRPr lang="en-US" sz="1300" dirty="0"/>
          </a:p>
        </p:txBody>
      </p:sp>
      <p:sp>
        <p:nvSpPr>
          <p:cNvPr id="45" name="Text 43"/>
          <p:cNvSpPr/>
          <p:nvPr/>
        </p:nvSpPr>
        <p:spPr>
          <a:xfrm>
            <a:off x="6355080" y="548640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Metrics, cross-validation &amp; optimization</a:t>
            </a:r>
            <a:endParaRPr lang="en-US" sz="1000" dirty="0"/>
          </a:p>
        </p:txBody>
      </p:sp>
      <p:sp>
        <p:nvSpPr>
          <p:cNvPr id="46" name="Shape 44"/>
          <p:cNvSpPr/>
          <p:nvPr/>
        </p:nvSpPr>
        <p:spPr>
          <a:xfrm>
            <a:off x="8915400" y="397764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47" name="Shape 45"/>
          <p:cNvSpPr/>
          <p:nvPr/>
        </p:nvSpPr>
        <p:spPr>
          <a:xfrm>
            <a:off x="9144000" y="4206240"/>
            <a:ext cx="502920" cy="502920"/>
          </a:xfrm>
          <a:prstGeom prst="ellipse">
            <a:avLst/>
          </a:prstGeom>
          <a:solidFill>
            <a:srgbClr val="028090"/>
          </a:solidFill>
          <a:ln/>
        </p:spPr>
      </p:sp>
      <p:sp>
        <p:nvSpPr>
          <p:cNvPr id="48" name="Text 46"/>
          <p:cNvSpPr/>
          <p:nvPr/>
        </p:nvSpPr>
        <p:spPr>
          <a:xfrm>
            <a:off x="9144000" y="4206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9" name="Text 47"/>
          <p:cNvSpPr/>
          <p:nvPr/>
        </p:nvSpPr>
        <p:spPr>
          <a:xfrm>
            <a:off x="9738360" y="427939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50" name="Text 48"/>
          <p:cNvSpPr/>
          <p:nvPr/>
        </p:nvSpPr>
        <p:spPr>
          <a:xfrm>
            <a:off x="9144000" y="489204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Capstone Project</a:t>
            </a:r>
            <a:endParaRPr lang="en-US" sz="1300" dirty="0"/>
          </a:p>
        </p:txBody>
      </p:sp>
      <p:sp>
        <p:nvSpPr>
          <p:cNvPr id="51" name="Text 49"/>
          <p:cNvSpPr/>
          <p:nvPr/>
        </p:nvSpPr>
        <p:spPr>
          <a:xfrm>
            <a:off x="9144000" y="548640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End-to-end data science case study</a:t>
            </a:r>
            <a:endParaRPr lang="en-US" sz="1000" dirty="0"/>
          </a:p>
        </p:txBody>
      </p:sp>
      <p:sp>
        <p:nvSpPr>
          <p:cNvPr id="52" name="Text 50"/>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Tannu Kumari</a:t>
            </a:r>
            <a:endParaRPr lang="en-US" sz="1000" dirty="0"/>
          </a:p>
        </p:txBody>
      </p:sp>
      <p:sp>
        <p:nvSpPr>
          <p:cNvPr id="53" name="Text 51"/>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EXPECTED OUTCOMES</a:t>
            </a:r>
            <a:endParaRPr lang="en-US" sz="12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Skills &amp; Capabilities Gained</a:t>
            </a:r>
            <a:endParaRPr lang="en-US" sz="3200" dirty="0"/>
          </a:p>
        </p:txBody>
      </p:sp>
      <p:sp>
        <p:nvSpPr>
          <p:cNvPr id="4" name="Shape 2"/>
          <p:cNvSpPr/>
          <p:nvPr/>
        </p:nvSpPr>
        <p:spPr>
          <a:xfrm>
            <a:off x="548640" y="1828800"/>
            <a:ext cx="384048" cy="384048"/>
          </a:xfrm>
          <a:prstGeom prst="ellipse">
            <a:avLst/>
          </a:prstGeom>
          <a:solidFill>
            <a:srgbClr val="02C39A"/>
          </a:solidFill>
          <a:ln/>
        </p:spPr>
      </p:sp>
      <p:sp>
        <p:nvSpPr>
          <p:cNvPr id="5" name="Text 3"/>
          <p:cNvSpPr/>
          <p:nvPr/>
        </p:nvSpPr>
        <p:spPr>
          <a:xfrm>
            <a:off x="548640" y="1828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6" name="Text 4"/>
          <p:cNvSpPr/>
          <p:nvPr/>
        </p:nvSpPr>
        <p:spPr>
          <a:xfrm>
            <a:off x="1097280" y="1783080"/>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Ability to clean, wrangle and explore real-world datasets using Python (Pandas &amp; NumPy)</a:t>
            </a:r>
            <a:endParaRPr lang="en-US" sz="1450" dirty="0"/>
          </a:p>
        </p:txBody>
      </p:sp>
      <p:sp>
        <p:nvSpPr>
          <p:cNvPr id="7" name="Shape 5"/>
          <p:cNvSpPr/>
          <p:nvPr/>
        </p:nvSpPr>
        <p:spPr>
          <a:xfrm>
            <a:off x="548640" y="2487168"/>
            <a:ext cx="384048" cy="384048"/>
          </a:xfrm>
          <a:prstGeom prst="ellipse">
            <a:avLst/>
          </a:prstGeom>
          <a:solidFill>
            <a:srgbClr val="02C39A"/>
          </a:solidFill>
          <a:ln/>
        </p:spPr>
      </p:sp>
      <p:sp>
        <p:nvSpPr>
          <p:cNvPr id="8" name="Text 6"/>
          <p:cNvSpPr/>
          <p:nvPr/>
        </p:nvSpPr>
        <p:spPr>
          <a:xfrm>
            <a:off x="548640" y="24871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9" name="Text 7"/>
          <p:cNvSpPr/>
          <p:nvPr/>
        </p:nvSpPr>
        <p:spPr>
          <a:xfrm>
            <a:off x="1097280" y="2441448"/>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Practical understanding of building machine learning models with RapidMiner and Python</a:t>
            </a:r>
            <a:endParaRPr lang="en-US" sz="1450" dirty="0"/>
          </a:p>
        </p:txBody>
      </p:sp>
      <p:sp>
        <p:nvSpPr>
          <p:cNvPr id="10" name="Shape 8"/>
          <p:cNvSpPr/>
          <p:nvPr/>
        </p:nvSpPr>
        <p:spPr>
          <a:xfrm>
            <a:off x="548640" y="3145536"/>
            <a:ext cx="384048" cy="384048"/>
          </a:xfrm>
          <a:prstGeom prst="ellipse">
            <a:avLst/>
          </a:prstGeom>
          <a:solidFill>
            <a:srgbClr val="02C39A"/>
          </a:solidFill>
          <a:ln/>
        </p:spPr>
      </p:sp>
      <p:sp>
        <p:nvSpPr>
          <p:cNvPr id="11" name="Text 9"/>
          <p:cNvSpPr/>
          <p:nvPr/>
        </p:nvSpPr>
        <p:spPr>
          <a:xfrm>
            <a:off x="548640" y="31455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2" name="Text 10"/>
          <p:cNvSpPr/>
          <p:nvPr/>
        </p:nvSpPr>
        <p:spPr>
          <a:xfrm>
            <a:off x="1097280" y="3099816"/>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Hands-on exposure to regression, classification and model evaluation techniques</a:t>
            </a:r>
            <a:endParaRPr lang="en-US" sz="1450" dirty="0"/>
          </a:p>
        </p:txBody>
      </p:sp>
      <p:sp>
        <p:nvSpPr>
          <p:cNvPr id="13" name="Shape 11"/>
          <p:cNvSpPr/>
          <p:nvPr/>
        </p:nvSpPr>
        <p:spPr>
          <a:xfrm>
            <a:off x="548640" y="3803904"/>
            <a:ext cx="384048" cy="384048"/>
          </a:xfrm>
          <a:prstGeom prst="ellipse">
            <a:avLst/>
          </a:prstGeom>
          <a:solidFill>
            <a:srgbClr val="02C39A"/>
          </a:solidFill>
          <a:ln/>
        </p:spPr>
      </p:sp>
      <p:sp>
        <p:nvSpPr>
          <p:cNvPr id="14" name="Text 12"/>
          <p:cNvSpPr/>
          <p:nvPr/>
        </p:nvSpPr>
        <p:spPr>
          <a:xfrm>
            <a:off x="548640" y="38039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5" name="Text 13"/>
          <p:cNvSpPr/>
          <p:nvPr/>
        </p:nvSpPr>
        <p:spPr>
          <a:xfrm>
            <a:off x="1097280" y="3758184"/>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Capability to visualize data and communicate insights clearly through charts and reports</a:t>
            </a:r>
            <a:endParaRPr lang="en-US" sz="1450" dirty="0"/>
          </a:p>
        </p:txBody>
      </p:sp>
      <p:sp>
        <p:nvSpPr>
          <p:cNvPr id="16" name="Shape 14"/>
          <p:cNvSpPr/>
          <p:nvPr/>
        </p:nvSpPr>
        <p:spPr>
          <a:xfrm>
            <a:off x="548640" y="4462272"/>
            <a:ext cx="384048" cy="384048"/>
          </a:xfrm>
          <a:prstGeom prst="ellipse">
            <a:avLst/>
          </a:prstGeom>
          <a:solidFill>
            <a:srgbClr val="02C39A"/>
          </a:solidFill>
          <a:ln/>
        </p:spPr>
      </p:sp>
      <p:sp>
        <p:nvSpPr>
          <p:cNvPr id="17" name="Text 15"/>
          <p:cNvSpPr/>
          <p:nvPr/>
        </p:nvSpPr>
        <p:spPr>
          <a:xfrm>
            <a:off x="548640" y="4462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8" name="Text 16"/>
          <p:cNvSpPr/>
          <p:nvPr/>
        </p:nvSpPr>
        <p:spPr>
          <a:xfrm>
            <a:off x="1097280" y="4416552"/>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Skill to build an end-to-end data science pipeline, from raw data to actionable insight</a:t>
            </a:r>
            <a:endParaRPr lang="en-US" sz="1450" dirty="0"/>
          </a:p>
        </p:txBody>
      </p:sp>
      <p:sp>
        <p:nvSpPr>
          <p:cNvPr id="19" name="Shape 17"/>
          <p:cNvSpPr/>
          <p:nvPr/>
        </p:nvSpPr>
        <p:spPr>
          <a:xfrm>
            <a:off x="548640" y="5120640"/>
            <a:ext cx="384048" cy="384048"/>
          </a:xfrm>
          <a:prstGeom prst="ellipse">
            <a:avLst/>
          </a:prstGeom>
          <a:solidFill>
            <a:srgbClr val="02C39A"/>
          </a:solidFill>
          <a:ln/>
        </p:spPr>
      </p:sp>
      <p:sp>
        <p:nvSpPr>
          <p:cNvPr id="20" name="Text 18"/>
          <p:cNvSpPr/>
          <p:nvPr/>
        </p:nvSpPr>
        <p:spPr>
          <a:xfrm>
            <a:off x="548640" y="5120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21" name="Text 19"/>
          <p:cNvSpPr/>
          <p:nvPr/>
        </p:nvSpPr>
        <p:spPr>
          <a:xfrm>
            <a:off x="1097280" y="5074920"/>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Completed all learning-pathway modules &amp; the capstone project; cleared the Final Credential Validation with an “Outstanding” grade</a:t>
            </a:r>
            <a:endParaRPr lang="en-US" sz="1450" dirty="0"/>
          </a:p>
        </p:txBody>
      </p:sp>
      <p:sp>
        <p:nvSpPr>
          <p:cNvPr id="22" name="Text 20"/>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Tannu Kumari</a:t>
            </a:r>
            <a:endParaRPr lang="en-US" sz="1000" dirty="0"/>
          </a:p>
        </p:txBody>
      </p:sp>
      <p:sp>
        <p:nvSpPr>
          <p:cNvPr id="23" name="Text 21"/>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323D"/>
        </a:solidFill>
      </p:bgPr>
    </p:bg>
    <p:spTree>
      <p:nvGrpSpPr>
        <p:cNvPr id="1" name=""/>
        <p:cNvGrpSpPr/>
        <p:nvPr/>
      </p:nvGrpSpPr>
      <p:grpSpPr>
        <a:xfrm>
          <a:off x="0" y="0"/>
          <a:ext cx="0" cy="0"/>
          <a:chOff x="0" y="0"/>
          <a:chExt cx="0" cy="0"/>
        </a:xfrm>
      </p:grpSpPr>
      <p:sp>
        <p:nvSpPr>
          <p:cNvPr id="2" name="Shape 0"/>
          <p:cNvSpPr/>
          <p:nvPr/>
        </p:nvSpPr>
        <p:spPr>
          <a:xfrm>
            <a:off x="-1554480" y="-1554480"/>
            <a:ext cx="5029200" cy="5029200"/>
          </a:xfrm>
          <a:prstGeom prst="ellipse">
            <a:avLst/>
          </a:prstGeom>
          <a:solidFill>
            <a:srgbClr val="028090">
              <a:alpha val="45000"/>
            </a:srgbClr>
          </a:solidFill>
          <a:ln/>
        </p:spPr>
      </p:sp>
      <p:sp>
        <p:nvSpPr>
          <p:cNvPr id="3" name="Text 1"/>
          <p:cNvSpPr/>
          <p:nvPr/>
        </p:nvSpPr>
        <p:spPr>
          <a:xfrm>
            <a:off x="548640" y="548640"/>
            <a:ext cx="7315200" cy="320040"/>
          </a:xfrm>
          <a:prstGeom prst="rect">
            <a:avLst/>
          </a:prstGeom>
          <a:noFill/>
          <a:ln/>
        </p:spPr>
        <p:txBody>
          <a:bodyPr wrap="square" lIns="0" tIns="0" rIns="0" bIns="0" rtlCol="0" anchor="ctr"/>
          <a:lstStyle/>
          <a:p>
            <a:pPr algn="l" indent="0" marL="0">
              <a:buNone/>
            </a:pPr>
            <a:r>
              <a:rPr lang="en-US" sz="1200" b="1" spc="200" kern="0" dirty="0">
                <a:solidFill>
                  <a:srgbClr val="F2B441"/>
                </a:solidFill>
                <a:latin typeface="Calibri" pitchFamily="34" charset="0"/>
                <a:ea typeface="Calibri" pitchFamily="34" charset="-122"/>
                <a:cs typeface="Calibri" pitchFamily="34" charset="-120"/>
              </a:rPr>
              <a:t>CERTIFICATION</a:t>
            </a:r>
            <a:endParaRPr lang="en-US" sz="1200" dirty="0"/>
          </a:p>
        </p:txBody>
      </p:sp>
      <p:sp>
        <p:nvSpPr>
          <p:cNvPr id="4" name="Text 2"/>
          <p:cNvSpPr/>
          <p:nvPr/>
        </p:nvSpPr>
        <p:spPr>
          <a:xfrm>
            <a:off x="548640" y="896112"/>
            <a:ext cx="59436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Successfully Completed</a:t>
            </a:r>
            <a:endParaRPr lang="en-US" sz="3000" dirty="0"/>
          </a:p>
        </p:txBody>
      </p:sp>
      <p:sp>
        <p:nvSpPr>
          <p:cNvPr id="5" name="Shape 3"/>
          <p:cNvSpPr/>
          <p:nvPr/>
        </p:nvSpPr>
        <p:spPr>
          <a:xfrm>
            <a:off x="548640" y="1965960"/>
            <a:ext cx="502920" cy="502920"/>
          </a:xfrm>
          <a:prstGeom prst="ellipse">
            <a:avLst/>
          </a:prstGeom>
          <a:solidFill>
            <a:srgbClr val="22454F"/>
          </a:solidFill>
          <a:ln/>
        </p:spPr>
      </p:sp>
      <p:sp>
        <p:nvSpPr>
          <p:cNvPr id="6" name="Text 4"/>
          <p:cNvSpPr/>
          <p:nvPr/>
        </p:nvSpPr>
        <p:spPr>
          <a:xfrm>
            <a:off x="548640" y="1965960"/>
            <a:ext cx="502920" cy="50292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7" name="Text 5"/>
          <p:cNvSpPr/>
          <p:nvPr/>
        </p:nvSpPr>
        <p:spPr>
          <a:xfrm>
            <a:off x="1234440" y="1938528"/>
            <a:ext cx="4389120" cy="292608"/>
          </a:xfrm>
          <a:prstGeom prst="rect">
            <a:avLst/>
          </a:prstGeom>
          <a:noFill/>
          <a:ln/>
        </p:spPr>
        <p:txBody>
          <a:bodyPr wrap="square" lIns="0" tIns="0" rIns="0" bIns="0" rtlCol="0" anchor="ctr"/>
          <a:lstStyle/>
          <a:p>
            <a:pPr indent="0" marL="0">
              <a:buNone/>
            </a:pPr>
            <a:r>
              <a:rPr lang="en-US" sz="1250" b="1" dirty="0">
                <a:solidFill>
                  <a:srgbClr val="F2B441"/>
                </a:solidFill>
                <a:latin typeface="Calibri" pitchFamily="34" charset="0"/>
                <a:ea typeface="Calibri" pitchFamily="34" charset="-122"/>
                <a:cs typeface="Calibri" pitchFamily="34" charset="-120"/>
              </a:rPr>
              <a:t>Grade</a:t>
            </a:r>
            <a:endParaRPr lang="en-US" sz="1250" dirty="0"/>
          </a:p>
        </p:txBody>
      </p:sp>
      <p:sp>
        <p:nvSpPr>
          <p:cNvPr id="8" name="Text 6"/>
          <p:cNvSpPr/>
          <p:nvPr/>
        </p:nvSpPr>
        <p:spPr>
          <a:xfrm>
            <a:off x="1234440" y="2212848"/>
            <a:ext cx="4572000" cy="3200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O – Outstanding</a:t>
            </a:r>
            <a:endParaRPr lang="en-US" sz="1450" dirty="0"/>
          </a:p>
        </p:txBody>
      </p:sp>
      <p:sp>
        <p:nvSpPr>
          <p:cNvPr id="9" name="Shape 7"/>
          <p:cNvSpPr/>
          <p:nvPr/>
        </p:nvSpPr>
        <p:spPr>
          <a:xfrm>
            <a:off x="548640" y="2834640"/>
            <a:ext cx="502920" cy="502920"/>
          </a:xfrm>
          <a:prstGeom prst="ellipse">
            <a:avLst/>
          </a:prstGeom>
          <a:solidFill>
            <a:srgbClr val="22454F"/>
          </a:solidFill>
          <a:ln/>
        </p:spPr>
      </p:sp>
      <p:sp>
        <p:nvSpPr>
          <p:cNvPr id="10" name="Text 8"/>
          <p:cNvSpPr/>
          <p:nvPr/>
        </p:nvSpPr>
        <p:spPr>
          <a:xfrm>
            <a:off x="548640" y="2834640"/>
            <a:ext cx="502920" cy="50292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11" name="Text 9"/>
          <p:cNvSpPr/>
          <p:nvPr/>
        </p:nvSpPr>
        <p:spPr>
          <a:xfrm>
            <a:off x="1234440" y="2807208"/>
            <a:ext cx="4389120" cy="292608"/>
          </a:xfrm>
          <a:prstGeom prst="rect">
            <a:avLst/>
          </a:prstGeom>
          <a:noFill/>
          <a:ln/>
        </p:spPr>
        <p:txBody>
          <a:bodyPr wrap="square" lIns="0" tIns="0" rIns="0" bIns="0" rtlCol="0" anchor="ctr"/>
          <a:lstStyle/>
          <a:p>
            <a:pPr indent="0" marL="0">
              <a:buNone/>
            </a:pPr>
            <a:r>
              <a:rPr lang="en-US" sz="1250" b="1" dirty="0">
                <a:solidFill>
                  <a:srgbClr val="F2B441"/>
                </a:solidFill>
                <a:latin typeface="Calibri" pitchFamily="34" charset="0"/>
                <a:ea typeface="Calibri" pitchFamily="34" charset="-122"/>
                <a:cs typeface="Calibri" pitchFamily="34" charset="-120"/>
              </a:rPr>
              <a:t>Certificate ID</a:t>
            </a:r>
            <a:endParaRPr lang="en-US" sz="1250" dirty="0"/>
          </a:p>
        </p:txBody>
      </p:sp>
      <p:sp>
        <p:nvSpPr>
          <p:cNvPr id="12" name="Text 10"/>
          <p:cNvSpPr/>
          <p:nvPr/>
        </p:nvSpPr>
        <p:spPr>
          <a:xfrm>
            <a:off x="1234440" y="3081528"/>
            <a:ext cx="4572000" cy="3200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4b5f9d8bd61aa770e5fb</a:t>
            </a:r>
            <a:endParaRPr lang="en-US" sz="1450" dirty="0"/>
          </a:p>
        </p:txBody>
      </p:sp>
      <p:sp>
        <p:nvSpPr>
          <p:cNvPr id="13" name="Shape 11"/>
          <p:cNvSpPr/>
          <p:nvPr/>
        </p:nvSpPr>
        <p:spPr>
          <a:xfrm>
            <a:off x="548640" y="3703320"/>
            <a:ext cx="502920" cy="502920"/>
          </a:xfrm>
          <a:prstGeom prst="ellipse">
            <a:avLst/>
          </a:prstGeom>
          <a:solidFill>
            <a:srgbClr val="22454F"/>
          </a:solidFill>
          <a:ln/>
        </p:spPr>
      </p:sp>
      <p:sp>
        <p:nvSpPr>
          <p:cNvPr id="14" name="Text 12"/>
          <p:cNvSpPr/>
          <p:nvPr/>
        </p:nvSpPr>
        <p:spPr>
          <a:xfrm>
            <a:off x="548640" y="3703320"/>
            <a:ext cx="502920" cy="50292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15" name="Text 13"/>
          <p:cNvSpPr/>
          <p:nvPr/>
        </p:nvSpPr>
        <p:spPr>
          <a:xfrm>
            <a:off x="1234440" y="3675888"/>
            <a:ext cx="4389120" cy="292608"/>
          </a:xfrm>
          <a:prstGeom prst="rect">
            <a:avLst/>
          </a:prstGeom>
          <a:noFill/>
          <a:ln/>
        </p:spPr>
        <p:txBody>
          <a:bodyPr wrap="square" lIns="0" tIns="0" rIns="0" bIns="0" rtlCol="0" anchor="ctr"/>
          <a:lstStyle/>
          <a:p>
            <a:pPr indent="0" marL="0">
              <a:buNone/>
            </a:pPr>
            <a:r>
              <a:rPr lang="en-US" sz="1250" b="1" dirty="0">
                <a:solidFill>
                  <a:srgbClr val="F2B441"/>
                </a:solidFill>
                <a:latin typeface="Calibri" pitchFamily="34" charset="0"/>
                <a:ea typeface="Calibri" pitchFamily="34" charset="-122"/>
                <a:cs typeface="Calibri" pitchFamily="34" charset="-120"/>
              </a:rPr>
              <a:t>Roll Number</a:t>
            </a:r>
            <a:endParaRPr lang="en-US" sz="1250" dirty="0"/>
          </a:p>
        </p:txBody>
      </p:sp>
      <p:sp>
        <p:nvSpPr>
          <p:cNvPr id="16" name="Text 14"/>
          <p:cNvSpPr/>
          <p:nvPr/>
        </p:nvSpPr>
        <p:spPr>
          <a:xfrm>
            <a:off x="1234440" y="3950208"/>
            <a:ext cx="4572000" cy="3200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2410031602</a:t>
            </a:r>
            <a:endParaRPr lang="en-US" sz="1450" dirty="0"/>
          </a:p>
        </p:txBody>
      </p:sp>
      <p:sp>
        <p:nvSpPr>
          <p:cNvPr id="17" name="Shape 15"/>
          <p:cNvSpPr/>
          <p:nvPr/>
        </p:nvSpPr>
        <p:spPr>
          <a:xfrm>
            <a:off x="548640" y="4572000"/>
            <a:ext cx="502920" cy="502920"/>
          </a:xfrm>
          <a:prstGeom prst="ellipse">
            <a:avLst/>
          </a:prstGeom>
          <a:solidFill>
            <a:srgbClr val="22454F"/>
          </a:solidFill>
          <a:ln/>
        </p:spPr>
      </p:sp>
      <p:sp>
        <p:nvSpPr>
          <p:cNvPr id="18" name="Text 16"/>
          <p:cNvSpPr/>
          <p:nvPr/>
        </p:nvSpPr>
        <p:spPr>
          <a:xfrm>
            <a:off x="548640" y="4572000"/>
            <a:ext cx="502920" cy="50292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19" name="Text 17"/>
          <p:cNvSpPr/>
          <p:nvPr/>
        </p:nvSpPr>
        <p:spPr>
          <a:xfrm>
            <a:off x="1234440" y="4544568"/>
            <a:ext cx="4389120" cy="292608"/>
          </a:xfrm>
          <a:prstGeom prst="rect">
            <a:avLst/>
          </a:prstGeom>
          <a:noFill/>
          <a:ln/>
        </p:spPr>
        <p:txBody>
          <a:bodyPr wrap="square" lIns="0" tIns="0" rIns="0" bIns="0" rtlCol="0" anchor="ctr"/>
          <a:lstStyle/>
          <a:p>
            <a:pPr indent="0" marL="0">
              <a:buNone/>
            </a:pPr>
            <a:r>
              <a:rPr lang="en-US" sz="1250" b="1" dirty="0">
                <a:solidFill>
                  <a:srgbClr val="F2B441"/>
                </a:solidFill>
                <a:latin typeface="Calibri" pitchFamily="34" charset="0"/>
                <a:ea typeface="Calibri" pitchFamily="34" charset="-122"/>
                <a:cs typeface="Calibri" pitchFamily="34" charset="-120"/>
              </a:rPr>
              <a:t>Duration</a:t>
            </a:r>
            <a:endParaRPr lang="en-US" sz="1250" dirty="0"/>
          </a:p>
        </p:txBody>
      </p:sp>
      <p:sp>
        <p:nvSpPr>
          <p:cNvPr id="20" name="Text 18"/>
          <p:cNvSpPr/>
          <p:nvPr/>
        </p:nvSpPr>
        <p:spPr>
          <a:xfrm>
            <a:off x="1234440" y="4818888"/>
            <a:ext cx="4572000" cy="3200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8 Weeks | April – June 2026</a:t>
            </a:r>
            <a:endParaRPr lang="en-US" sz="1450" dirty="0"/>
          </a:p>
        </p:txBody>
      </p:sp>
      <p:sp>
        <p:nvSpPr>
          <p:cNvPr id="21" name="Shape 19"/>
          <p:cNvSpPr/>
          <p:nvPr/>
        </p:nvSpPr>
        <p:spPr>
          <a:xfrm>
            <a:off x="6720840" y="685800"/>
            <a:ext cx="4937760" cy="5486400"/>
          </a:xfrm>
          <a:prstGeom prst="roundRect">
            <a:avLst>
              <a:gd name="adj" fmla="val 741"/>
            </a:avLst>
          </a:prstGeom>
          <a:solidFill>
            <a:srgbClr val="FFFFFF"/>
          </a:solidFill>
          <a:ln/>
          <a:effectLst>
            <a:outerShdw sx="100000" sy="100000" kx="0" ky="0" algn="bl" rotWithShape="0" blurRad="152400" dist="50800" dir="5400000">
              <a:srgbClr val="000000">
                <a:alpha val="35000"/>
              </a:srgbClr>
            </a:outerShdw>
          </a:effectLst>
        </p:spPr>
      </p:sp>
      <p:pic>
        <p:nvPicPr>
          <p:cNvPr id="22" name="Image 0" descr="/home/claude/work/tannu_cert.png">    </p:cNvPr>
          <p:cNvPicPr>
            <a:picLocks noChangeAspect="1"/>
          </p:cNvPicPr>
          <p:nvPr/>
        </p:nvPicPr>
        <p:blipFill>
          <a:blip r:embed="rId1"/>
          <a:stretch>
            <a:fillRect/>
          </a:stretch>
        </p:blipFill>
        <p:spPr>
          <a:xfrm>
            <a:off x="6903720" y="868680"/>
            <a:ext cx="4572000" cy="5120640"/>
          </a:xfrm>
          <a:prstGeom prst="rect">
            <a:avLst/>
          </a:prstGeom>
        </p:spPr>
      </p:pic>
      <p:sp>
        <p:nvSpPr>
          <p:cNvPr id="23" name="Text 20"/>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9FB8BC"/>
                </a:solidFill>
                <a:latin typeface="Calibri" pitchFamily="34" charset="0"/>
                <a:ea typeface="Calibri" pitchFamily="34" charset="-122"/>
                <a:cs typeface="Calibri" pitchFamily="34" charset="-120"/>
              </a:rPr>
              <a:t>Data Science Master Virtual Internship  •  Tannu Kumari</a:t>
            </a:r>
            <a:endParaRPr lang="en-US" sz="1000" dirty="0"/>
          </a:p>
        </p:txBody>
      </p:sp>
      <p:sp>
        <p:nvSpPr>
          <p:cNvPr id="24" name="Text 21"/>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9FB8B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23D"/>
        </a:solidFill>
      </p:bgPr>
    </p:bg>
    <p:spTree>
      <p:nvGrpSpPr>
        <p:cNvPr id="1" name=""/>
        <p:cNvGrpSpPr/>
        <p:nvPr/>
      </p:nvGrpSpPr>
      <p:grpSpPr>
        <a:xfrm>
          <a:off x="0" y="0"/>
          <a:ext cx="0" cy="0"/>
          <a:chOff x="0" y="0"/>
          <a:chExt cx="0" cy="0"/>
        </a:xfrm>
      </p:grpSpPr>
      <p:sp>
        <p:nvSpPr>
          <p:cNvPr id="2" name="Shape 0"/>
          <p:cNvSpPr/>
          <p:nvPr/>
        </p:nvSpPr>
        <p:spPr>
          <a:xfrm>
            <a:off x="9784080" y="-2103120"/>
            <a:ext cx="5943600" cy="5943600"/>
          </a:xfrm>
          <a:prstGeom prst="ellipse">
            <a:avLst/>
          </a:prstGeom>
          <a:solidFill>
            <a:srgbClr val="028090">
              <a:alpha val="45000"/>
            </a:srgbClr>
          </a:solidFill>
          <a:ln/>
        </p:spPr>
      </p:sp>
      <p:sp>
        <p:nvSpPr>
          <p:cNvPr id="3" name="Shape 1"/>
          <p:cNvSpPr/>
          <p:nvPr/>
        </p:nvSpPr>
        <p:spPr>
          <a:xfrm>
            <a:off x="-1463040" y="5120640"/>
            <a:ext cx="4206240" cy="4206240"/>
          </a:xfrm>
          <a:prstGeom prst="ellipse">
            <a:avLst/>
          </a:prstGeom>
          <a:solidFill>
            <a:srgbClr val="028090">
              <a:alpha val="45000"/>
            </a:srgbClr>
          </a:solidFill>
          <a:ln/>
        </p:spPr>
      </p:sp>
      <p:pic>
        <p:nvPicPr>
          <p:cNvPr id="4" name="Image 0" descr="/home/claude/work/iilm_logo-000.jpg">    </p:cNvPr>
          <p:cNvPicPr>
            <a:picLocks noChangeAspect="1"/>
          </p:cNvPicPr>
          <p:nvPr/>
        </p:nvPicPr>
        <p:blipFill>
          <a:blip r:embed="rId1"/>
          <a:stretch>
            <a:fillRect/>
          </a:stretch>
        </p:blipFill>
        <p:spPr>
          <a:xfrm>
            <a:off x="5870448" y="1417320"/>
            <a:ext cx="457200" cy="420624"/>
          </a:xfrm>
          <a:prstGeom prst="rect">
            <a:avLst/>
          </a:prstGeom>
        </p:spPr>
      </p:pic>
      <p:sp>
        <p:nvSpPr>
          <p:cNvPr id="5" name="Text 2"/>
          <p:cNvSpPr/>
          <p:nvPr/>
        </p:nvSpPr>
        <p:spPr>
          <a:xfrm>
            <a:off x="0" y="2377440"/>
            <a:ext cx="12188952"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Text 3"/>
          <p:cNvSpPr/>
          <p:nvPr/>
        </p:nvSpPr>
        <p:spPr>
          <a:xfrm>
            <a:off x="0" y="3291840"/>
            <a:ext cx="12188952" cy="365760"/>
          </a:xfrm>
          <a:prstGeom prst="rect">
            <a:avLst/>
          </a:prstGeom>
          <a:noFill/>
          <a:ln/>
        </p:spPr>
        <p:txBody>
          <a:bodyPr wrap="square" lIns="0" tIns="0" rIns="0" bIns="0" rtlCol="0" anchor="ctr"/>
          <a:lstStyle/>
          <a:p>
            <a:pPr algn="ctr" indent="0" marL="0">
              <a:buNone/>
            </a:pPr>
            <a:r>
              <a:rPr lang="en-US" sz="1400" dirty="0">
                <a:solidFill>
                  <a:srgbClr val="B9CDD1"/>
                </a:solidFill>
                <a:latin typeface="Calibri" pitchFamily="34" charset="0"/>
                <a:ea typeface="Calibri" pitchFamily="34" charset="-122"/>
                <a:cs typeface="Calibri" pitchFamily="34" charset="-120"/>
              </a:rPr>
              <a:t>Data Science Master Virtual Internship  |  AICTE – EduSkills Program</a:t>
            </a:r>
            <a:endParaRPr lang="en-US" sz="1400" dirty="0"/>
          </a:p>
        </p:txBody>
      </p:sp>
      <p:sp>
        <p:nvSpPr>
          <p:cNvPr id="7" name="Shape 4"/>
          <p:cNvSpPr/>
          <p:nvPr/>
        </p:nvSpPr>
        <p:spPr>
          <a:xfrm>
            <a:off x="5175504" y="3886200"/>
            <a:ext cx="1828800" cy="0"/>
          </a:xfrm>
          <a:prstGeom prst="line">
            <a:avLst/>
          </a:prstGeom>
          <a:noFill/>
          <a:ln w="28575">
            <a:solidFill>
              <a:srgbClr val="F2B441"/>
            </a:solidFill>
            <a:prstDash val="solid"/>
          </a:ln>
        </p:spPr>
      </p:sp>
      <p:sp>
        <p:nvSpPr>
          <p:cNvPr id="8" name="Text 5"/>
          <p:cNvSpPr/>
          <p:nvPr/>
        </p:nvSpPr>
        <p:spPr>
          <a:xfrm>
            <a:off x="0" y="4114800"/>
            <a:ext cx="1218895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Tannu Kumari</a:t>
            </a:r>
            <a:endParaRPr lang="en-US" sz="1600" dirty="0"/>
          </a:p>
        </p:txBody>
      </p:sp>
      <p:sp>
        <p:nvSpPr>
          <p:cNvPr id="9" name="Text 6"/>
          <p:cNvSpPr/>
          <p:nvPr/>
        </p:nvSpPr>
        <p:spPr>
          <a:xfrm>
            <a:off x="0" y="4462272"/>
            <a:ext cx="12188952" cy="320040"/>
          </a:xfrm>
          <a:prstGeom prst="rect">
            <a:avLst/>
          </a:prstGeom>
          <a:noFill/>
          <a:ln/>
        </p:spPr>
        <p:txBody>
          <a:bodyPr wrap="square" lIns="0" tIns="0" rIns="0" bIns="0" rtlCol="0" anchor="ctr"/>
          <a:lstStyle/>
          <a:p>
            <a:pPr algn="ctr" indent="0" marL="0">
              <a:buNone/>
            </a:pPr>
            <a:r>
              <a:rPr lang="en-US" sz="1250" dirty="0">
                <a:solidFill>
                  <a:srgbClr val="9FB8BC"/>
                </a:solidFill>
                <a:latin typeface="Calibri" pitchFamily="34" charset="0"/>
                <a:ea typeface="Calibri" pitchFamily="34" charset="-122"/>
                <a:cs typeface="Calibri" pitchFamily="34" charset="-120"/>
              </a:rPr>
              <a:t>IILM University, Greater Noida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2026-08-30T13:29:38Z</dcterms:created>
  <dcterms:modified xsi:type="dcterms:W3CDTF">2026-08-30T13:29:38Z</dcterms:modified>
</cp:coreProperties>
</file>